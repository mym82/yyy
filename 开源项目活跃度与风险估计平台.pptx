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259" r:id="rId4"/>
    <p:sldId id="260" r:id="rId5"/>
    <p:sldId id="261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1" r:id="rId28"/>
    <p:sldId id="302" r:id="rId29"/>
  </p:sldIdLst>
  <p:sldSz cx="9144000" cy="5143500" type="screen16x9"/>
  <p:notesSz cx="6858000" cy="9144000"/>
  <p:embeddedFontLst>
    <p:embeddedFont>
      <p:font typeface="Caveat Brush" pitchFamily="2" charset="0"/>
      <p:regular r:id="rId31"/>
    </p:embeddedFont>
    <p:embeddedFont>
      <p:font typeface="Roboto" panose="02000000000000000000" pitchFamily="2" charset="0"/>
      <p:regular r:id="rId32"/>
      <p:bold r:id="rId33"/>
      <p:italic r:id="rId34"/>
      <p:boldItalic r:id="rId35"/>
    </p:embeddedFont>
  </p:embeddedFontLst>
  <p:custDataLst>
    <p:tags r:id="rId3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pos="454" userDrawn="1">
          <p15:clr>
            <a:srgbClr val="9AA0A6"/>
          </p15:clr>
        </p15:guide>
        <p15:guide id="2" pos="5306" userDrawn="1">
          <p15:clr>
            <a:srgbClr val="9AA0A6"/>
          </p15:clr>
        </p15:guide>
        <p15:guide id="3" orient="horz" pos="683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97BA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59C11-E588-46BD-9050-69F7DEE1D6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27" y="360"/>
      </p:cViewPr>
      <p:guideLst>
        <p:guide pos="454"/>
        <p:guide pos="5306"/>
        <p:guide orient="horz" pos="6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24773ebfb0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24773ebfb0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26e541e8f0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26e541e8f0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307018ad6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307018ad65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26e541e8f0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26e541e8f0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51E82545-C907-AD00-158C-455C7A48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24A7D151-88BC-B178-9821-AEA7FE19A9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2616C035-FA20-59E9-03E3-E0D31A66C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2392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6706B4F8-36DA-50FC-C7D3-460394736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8075BCFE-8D42-3CD3-BADB-F02C4805E6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18812D57-447E-FF7D-7B2B-39B13E459E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998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209E0C71-69EB-2BD0-B2C0-ABA49C5FE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F9CDCBDE-2D6B-89ED-2345-11196CBDD3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4FA413A1-D6D0-B80B-AAEF-5358268089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8880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64FA25E9-4BD5-BD6A-A0A3-98AEF414B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3F207981-F332-DB60-BDDD-0AECC248E9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D630F695-46C4-D96C-3950-1359903689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5585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8E2230BB-D532-77DA-5D8F-D8ADDE5F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0B134379-B779-5C9C-2556-809757F4F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FF807132-725A-3B30-B67B-5D33490D24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93435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751FC957-1B6C-C73A-9CBF-EA0097AC3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26e541e8f0_0_228:notes">
            <a:extLst>
              <a:ext uri="{FF2B5EF4-FFF2-40B4-BE49-F238E27FC236}">
                <a16:creationId xmlns:a16="http://schemas.microsoft.com/office/drawing/2014/main" id="{A8CEF790-B84C-0949-D4D9-AAF78CA59D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26e541e8f0_0_228:notes">
            <a:extLst>
              <a:ext uri="{FF2B5EF4-FFF2-40B4-BE49-F238E27FC236}">
                <a16:creationId xmlns:a16="http://schemas.microsoft.com/office/drawing/2014/main" id="{CE73FFD0-0789-3C0C-ACC4-242BC9F074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41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ADE54300-23A7-6202-0215-1D62DDC68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7E1E6118-A0A0-7D15-85EE-2E3FFDAF79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875D6A2A-67BA-D61D-75A7-46752AC709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0252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004EC195-CFB4-119B-97FC-7CD398544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3D11DB06-268A-EAC9-3144-31836A0802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5C9FEE77-F4DE-54B2-62D5-0411B14A6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217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C7EF3567-13E6-6564-6537-642013E3F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FBB2C0A8-6BF0-7A1E-B897-9AE787A11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502FA12E-0DAC-86AD-AE83-BFD4878426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8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051D759E-8713-D174-4B8D-85FABAF5B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05BBA645-59AC-3698-769B-16425D1BA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A80ACD69-DC4A-91D0-6D10-3451A1109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67007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B50E4A0E-79D1-9E07-9167-5FCF1E151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A4F9BA28-B412-603A-7C85-EAB398BE52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7E1187CC-928F-1A14-9917-9D54A85A1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5982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F96EBFBA-4EC2-38A9-A642-3C2A8219B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DD2D1E79-8C03-832E-41A5-A6B638A7F3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1F6670D5-2ED4-1410-BD35-1D37CED5B2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1921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095A4A9F-DE5C-C353-711C-3D5D33AE8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BB76B1F9-A1F8-DC2D-03A7-7E5BCF29BC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A4DB37F3-D67B-8173-912A-4FF88A9976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85924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60475D81-A488-D259-B436-0CBC3C67D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ABD1562F-3027-991F-0499-7BC3388B90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2D3CB5AE-CE53-BFB7-EB2E-6047C8AB5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82760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E574027F-2B79-64CC-413B-3745D0E2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26e541e8f0_0_228:notes">
            <a:extLst>
              <a:ext uri="{FF2B5EF4-FFF2-40B4-BE49-F238E27FC236}">
                <a16:creationId xmlns:a16="http://schemas.microsoft.com/office/drawing/2014/main" id="{705728E8-D777-DB14-364D-F188651B5B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26e541e8f0_0_228:notes">
            <a:extLst>
              <a:ext uri="{FF2B5EF4-FFF2-40B4-BE49-F238E27FC236}">
                <a16:creationId xmlns:a16="http://schemas.microsoft.com/office/drawing/2014/main" id="{B96BDE7E-C733-63B5-DED3-B9D95CD22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0501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AD95B5C1-5A7A-436E-1C53-0BF6A1F4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263B25CE-8256-E2D7-980C-84C5F553A8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6E5CF0E0-6ABF-C1C1-9F6E-C7BF07A71B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02612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1F267276-D8CB-2EF1-CAC2-BDC3420F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DEAD5449-2519-8B25-AB0B-16F2B3DCE6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7EFEE8F2-3418-1969-0719-FF30336D3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30577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8B29E185-0884-E100-CD6B-FB15E6BB9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1F6DFE09-F3DD-158C-2927-279ED21614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FF634527-59C3-C9FF-2EDE-2A942E86B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7019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61BDA89D-0381-D98B-5EBC-C5E802ABD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26e541e8f0_0_228:notes">
            <a:extLst>
              <a:ext uri="{FF2B5EF4-FFF2-40B4-BE49-F238E27FC236}">
                <a16:creationId xmlns:a16="http://schemas.microsoft.com/office/drawing/2014/main" id="{BBD806BF-9964-69F1-0850-788AB72CA1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26e541e8f0_0_228:notes">
            <a:extLst>
              <a:ext uri="{FF2B5EF4-FFF2-40B4-BE49-F238E27FC236}">
                <a16:creationId xmlns:a16="http://schemas.microsoft.com/office/drawing/2014/main" id="{F7C2955F-9D18-E934-9075-E4327EA49C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546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3286A058-D809-F3F4-75CC-3A23109CD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CAF7284A-2D6D-E39D-8B31-0A5A0ED4F5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DF456DDD-145D-7962-DC55-0A76C3449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88283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5BF4FFDA-1A23-82ED-6880-7E7D70403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B2C219A3-92C8-BA58-E54A-047E9F348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16BA0A37-ED34-CCEC-F586-4156979B2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0750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5DA3EBD4-5F4C-BAE8-0429-56B9F016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89B99318-32D7-44B3-71B0-1CCC30C1CC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36E41B6B-D326-0C62-8A63-6D0DF4FF63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55368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>
          <a:extLst>
            <a:ext uri="{FF2B5EF4-FFF2-40B4-BE49-F238E27FC236}">
              <a16:creationId xmlns:a16="http://schemas.microsoft.com/office/drawing/2014/main" id="{173AAD0D-EE8C-9DA3-888B-80208AA1D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26e541e8f0_0_249:notes">
            <a:extLst>
              <a:ext uri="{FF2B5EF4-FFF2-40B4-BE49-F238E27FC236}">
                <a16:creationId xmlns:a16="http://schemas.microsoft.com/office/drawing/2014/main" id="{74E71A15-B2C1-35C9-FEAE-2F1931037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26e541e8f0_0_249:notes">
            <a:extLst>
              <a:ext uri="{FF2B5EF4-FFF2-40B4-BE49-F238E27FC236}">
                <a16:creationId xmlns:a16="http://schemas.microsoft.com/office/drawing/2014/main" id="{0B9175B2-BA99-C78B-A91C-CB25FDB08D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6748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7975" y="-980841"/>
            <a:ext cx="9890423" cy="6952666"/>
            <a:chOff x="-7975" y="-980841"/>
            <a:chExt cx="9890423" cy="6952666"/>
          </a:xfrm>
        </p:grpSpPr>
        <p:pic>
          <p:nvPicPr>
            <p:cNvPr id="11" name="Google Shape;11;p2"/>
            <p:cNvPicPr preferRelativeResize="0"/>
            <p:nvPr/>
          </p:nvPicPr>
          <p:blipFill rotWithShape="1">
            <a:blip r:embed="rId3"/>
            <a:srcRect r="2997" b="15354"/>
            <a:stretch>
              <a:fillRect/>
            </a:stretch>
          </p:blipFill>
          <p:spPr>
            <a:xfrm>
              <a:off x="4914750" y="3868312"/>
              <a:ext cx="4229250" cy="1472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 rotWithShape="1">
            <a:blip r:embed="rId4"/>
            <a:srcRect l="58994"/>
            <a:stretch>
              <a:fillRect/>
            </a:stretch>
          </p:blipFill>
          <p:spPr>
            <a:xfrm rot="-5400000">
              <a:off x="7637538" y="3626113"/>
              <a:ext cx="883325" cy="221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-5400000">
              <a:off x="7856486" y="3089688"/>
              <a:ext cx="2455675" cy="159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 rotWithShape="1">
            <a:blip r:embed="rId6"/>
            <a:srcRect l="5240" t="38556"/>
            <a:stretch>
              <a:fillRect/>
            </a:stretch>
          </p:blipFill>
          <p:spPr>
            <a:xfrm>
              <a:off x="0" y="0"/>
              <a:ext cx="4693167" cy="102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2"/>
            <p:cNvPicPr preferRelativeResize="0"/>
            <p:nvPr/>
          </p:nvPicPr>
          <p:blipFill rotWithShape="1">
            <a:blip r:embed="rId7"/>
            <a:srcRect l="42502" t="33757"/>
            <a:stretch>
              <a:fillRect/>
            </a:stretch>
          </p:blipFill>
          <p:spPr>
            <a:xfrm>
              <a:off x="-7975" y="-8425"/>
              <a:ext cx="1979600" cy="1895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16;p2"/>
            <p:cNvPicPr preferRelativeResize="0"/>
            <p:nvPr/>
          </p:nvPicPr>
          <p:blipFill rotWithShape="1">
            <a:blip r:embed="rId8"/>
            <a:srcRect l="21599" b="23896"/>
            <a:stretch>
              <a:fillRect/>
            </a:stretch>
          </p:blipFill>
          <p:spPr>
            <a:xfrm>
              <a:off x="-7975" y="3356999"/>
              <a:ext cx="1790043" cy="17969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 rotWithShape="1">
            <a:blip r:embed="rId9"/>
            <a:srcRect t="24156"/>
            <a:stretch>
              <a:fillRect/>
            </a:stretch>
          </p:blipFill>
          <p:spPr>
            <a:xfrm rot="5400000">
              <a:off x="7353600" y="1693100"/>
              <a:ext cx="2463225" cy="1142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 rotWithShape="1">
            <a:blip r:embed="rId4"/>
            <a:srcRect l="25334" t="26605"/>
            <a:stretch>
              <a:fillRect/>
            </a:stretch>
          </p:blipFill>
          <p:spPr>
            <a:xfrm>
              <a:off x="0" y="0"/>
              <a:ext cx="1587091" cy="16074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1622093" y="4235099"/>
              <a:ext cx="2671776" cy="1736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2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6015098" y="-980841"/>
              <a:ext cx="3089224" cy="20080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990000" y="3406050"/>
            <a:ext cx="7164000" cy="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990000" y="1184550"/>
            <a:ext cx="7164000" cy="22215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72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-1317250" y="-1843050"/>
            <a:ext cx="11582650" cy="8102900"/>
            <a:chOff x="-1317250" y="-1843050"/>
            <a:chExt cx="11582650" cy="8102900"/>
          </a:xfrm>
        </p:grpSpPr>
        <p:pic>
          <p:nvPicPr>
            <p:cNvPr id="26" name="Google Shape;26;p3"/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4829800" y="4341790"/>
              <a:ext cx="4265123" cy="14396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3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-986879" y="-509721"/>
              <a:ext cx="5156579" cy="20569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3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6985721" y="3534475"/>
              <a:ext cx="3279679" cy="2725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3"/>
            <p:cNvPicPr preferRelativeResize="0"/>
            <p:nvPr/>
          </p:nvPicPr>
          <p:blipFill rotWithShape="1">
            <a:blip r:embed="rId5"/>
            <a:srcRect t="250" b="-410"/>
            <a:stretch>
              <a:fillRect/>
            </a:stretch>
          </p:blipFill>
          <p:spPr>
            <a:xfrm rot="10800000">
              <a:off x="-1317250" y="-1843050"/>
              <a:ext cx="2949325" cy="30548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3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10800000">
              <a:off x="7359637" y="3893813"/>
              <a:ext cx="2024778" cy="208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3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-1277817" y="-1590569"/>
              <a:ext cx="2592231" cy="26710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3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6604026" y="-786374"/>
              <a:ext cx="3552499" cy="23091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3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-1075250" y="3941199"/>
              <a:ext cx="3499950" cy="22750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" name="Google Shape;34;p3"/>
          <p:cNvSpPr txBox="1">
            <a:spLocks noGrp="1"/>
          </p:cNvSpPr>
          <p:nvPr>
            <p:ph type="title" hasCustomPrompt="1"/>
          </p:nvPr>
        </p:nvSpPr>
        <p:spPr>
          <a:xfrm>
            <a:off x="990000" y="1792672"/>
            <a:ext cx="1041900" cy="5388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/>
          </p:nvPr>
        </p:nvSpPr>
        <p:spPr>
          <a:xfrm>
            <a:off x="990000" y="2284906"/>
            <a:ext cx="7164000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37" name="Google Shape;37;p3"/>
          <p:cNvSpPr txBox="1">
            <a:spLocks noGrp="1"/>
          </p:cNvSpPr>
          <p:nvPr>
            <p:ph type="subTitle" idx="1"/>
          </p:nvPr>
        </p:nvSpPr>
        <p:spPr>
          <a:xfrm>
            <a:off x="989975" y="3112219"/>
            <a:ext cx="7164000" cy="4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"/>
          <p:cNvGrpSpPr/>
          <p:nvPr/>
        </p:nvGrpSpPr>
        <p:grpSpPr>
          <a:xfrm>
            <a:off x="-1842575" y="-1204200"/>
            <a:ext cx="11465654" cy="9017500"/>
            <a:chOff x="-1842575" y="-1204200"/>
            <a:chExt cx="11465654" cy="9017500"/>
          </a:xfrm>
        </p:grpSpPr>
        <p:pic>
          <p:nvPicPr>
            <p:cNvPr id="40" name="Google Shape;40;p4"/>
            <p:cNvPicPr preferRelativeResize="0"/>
            <p:nvPr/>
          </p:nvPicPr>
          <p:blipFill rotWithShape="1">
            <a:blip r:embed="rId2"/>
            <a:srcRect l="19420" r="-72"/>
            <a:stretch>
              <a:fillRect/>
            </a:stretch>
          </p:blipFill>
          <p:spPr>
            <a:xfrm rot="-5400000">
              <a:off x="5991465" y="4470397"/>
              <a:ext cx="5323250" cy="13625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4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 rot="-5400000">
              <a:off x="-2253170" y="190805"/>
              <a:ext cx="4641575" cy="18515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4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5400000">
              <a:off x="-1808752" y="-1141173"/>
              <a:ext cx="2223560" cy="22912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4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6757902" y="4421441"/>
              <a:ext cx="2865177" cy="18624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Google Shape;44;p4"/>
          <p:cNvSpPr txBox="1">
            <a:spLocks noGrp="1"/>
          </p:cNvSpPr>
          <p:nvPr>
            <p:ph type="body" idx="1"/>
          </p:nvPr>
        </p:nvSpPr>
        <p:spPr>
          <a:xfrm>
            <a:off x="720000" y="1402450"/>
            <a:ext cx="7704000" cy="60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Caveat Brush"/>
              <a:buNone/>
              <a:defRPr sz="4800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7"/>
          <p:cNvGrpSpPr/>
          <p:nvPr/>
        </p:nvGrpSpPr>
        <p:grpSpPr>
          <a:xfrm>
            <a:off x="-1455765" y="-2059125"/>
            <a:ext cx="12191040" cy="8123325"/>
            <a:chOff x="-1455765" y="-2059125"/>
            <a:chExt cx="12191040" cy="8123325"/>
          </a:xfrm>
        </p:grpSpPr>
        <p:pic>
          <p:nvPicPr>
            <p:cNvPr id="69" name="Google Shape;69;p7"/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 rot="10800000">
              <a:off x="5722725" y="4306949"/>
              <a:ext cx="4462350" cy="1506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" name="Google Shape;70;p7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-1037295" y="-837784"/>
              <a:ext cx="4795245" cy="19128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7"/>
            <p:cNvPicPr preferRelativeResize="0"/>
            <p:nvPr/>
          </p:nvPicPr>
          <p:blipFill rotWithShape="1">
            <a:blip r:embed="rId4"/>
            <a:srcRect l="16999" r="33"/>
            <a:stretch>
              <a:fillRect/>
            </a:stretch>
          </p:blipFill>
          <p:spPr>
            <a:xfrm rot="5400000">
              <a:off x="7164854" y="-1593856"/>
              <a:ext cx="3537137" cy="260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7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-1399750" y="-1355471"/>
              <a:ext cx="2506804" cy="27950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7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-910987" y="-1792112"/>
              <a:ext cx="2297178" cy="23670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7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 rot="5400000">
              <a:off x="8430769" y="-740806"/>
              <a:ext cx="2269976" cy="233903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7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-1455765" y="4069673"/>
              <a:ext cx="3068449" cy="19945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7"/>
          <p:cNvSpPr txBox="1">
            <a:spLocks noGrp="1"/>
          </p:cNvSpPr>
          <p:nvPr>
            <p:ph type="body" idx="1"/>
          </p:nvPr>
        </p:nvSpPr>
        <p:spPr>
          <a:xfrm>
            <a:off x="720000" y="1460500"/>
            <a:ext cx="385890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78" name="Google Shape;78;p7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Caveat Brush"/>
              <a:buNone/>
              <a:defRPr sz="4800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9"/>
          <p:cNvGrpSpPr/>
          <p:nvPr/>
        </p:nvGrpSpPr>
        <p:grpSpPr>
          <a:xfrm>
            <a:off x="-1436175" y="-1588150"/>
            <a:ext cx="11623776" cy="9159200"/>
            <a:chOff x="-1436175" y="-1588150"/>
            <a:chExt cx="11623776" cy="9159200"/>
          </a:xfrm>
        </p:grpSpPr>
        <p:pic>
          <p:nvPicPr>
            <p:cNvPr id="89" name="Google Shape;89;p9"/>
            <p:cNvPicPr preferRelativeResize="0"/>
            <p:nvPr/>
          </p:nvPicPr>
          <p:blipFill rotWithShape="1">
            <a:blip r:embed="rId2"/>
            <a:srcRect l="50888"/>
            <a:stretch>
              <a:fillRect/>
            </a:stretch>
          </p:blipFill>
          <p:spPr>
            <a:xfrm>
              <a:off x="-151771" y="98443"/>
              <a:ext cx="3095924" cy="13013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9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5615600" y="4454006"/>
              <a:ext cx="4493941" cy="179267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9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-1436175" y="-1347048"/>
              <a:ext cx="2871525" cy="23861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9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10800000">
              <a:off x="-1224759" y="-1588150"/>
              <a:ext cx="2312205" cy="23825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9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 rot="-9371372">
              <a:off x="6874356" y="4192479"/>
              <a:ext cx="2842914" cy="292937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>
            <a:spLocks noGrp="1"/>
          </p:cNvSpPr>
          <p:nvPr>
            <p:ph type="title"/>
          </p:nvPr>
        </p:nvSpPr>
        <p:spPr>
          <a:xfrm>
            <a:off x="2298688" y="1209000"/>
            <a:ext cx="4546500" cy="819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None/>
              <a:defRPr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subTitle" idx="1"/>
          </p:nvPr>
        </p:nvSpPr>
        <p:spPr>
          <a:xfrm>
            <a:off x="2298813" y="2170225"/>
            <a:ext cx="4546500" cy="174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3"/>
          <p:cNvPicPr preferRelativeResize="0"/>
          <p:nvPr/>
        </p:nvPicPr>
        <p:blipFill rotWithShape="1">
          <a:blip r:embed="rId2"/>
          <a:srcRect r="43139"/>
          <a:stretch>
            <a:fillRect/>
          </a:stretch>
        </p:blipFill>
        <p:spPr>
          <a:xfrm rot="10800000">
            <a:off x="-308624" y="-20300"/>
            <a:ext cx="2785600" cy="10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082800" y="4417622"/>
            <a:ext cx="3552325" cy="141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3"/>
          <p:cNvPicPr preferRelativeResize="0"/>
          <p:nvPr/>
        </p:nvPicPr>
        <p:blipFill rotWithShape="1">
          <a:blip r:embed="rId4"/>
          <a:srcRect t="24625"/>
          <a:stretch>
            <a:fillRect/>
          </a:stretch>
        </p:blipFill>
        <p:spPr>
          <a:xfrm rot="5400000">
            <a:off x="7398718" y="3828025"/>
            <a:ext cx="2538643" cy="1169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-1597927" y="-681148"/>
            <a:ext cx="2662206" cy="173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3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8336600" y="4220812"/>
            <a:ext cx="2785601" cy="181068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>
            <a:spLocks noGrp="1"/>
          </p:cNvSpPr>
          <p:nvPr>
            <p:ph type="title"/>
          </p:nvPr>
        </p:nvSpPr>
        <p:spPr>
          <a:xfrm>
            <a:off x="990000" y="463800"/>
            <a:ext cx="7164000" cy="639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Caveat Brush"/>
              <a:buNone/>
              <a:defRPr sz="4800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2" hasCustomPrompt="1"/>
          </p:nvPr>
        </p:nvSpPr>
        <p:spPr>
          <a:xfrm>
            <a:off x="6102337" y="3266822"/>
            <a:ext cx="603900" cy="4119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1"/>
          </p:nvPr>
        </p:nvSpPr>
        <p:spPr>
          <a:xfrm>
            <a:off x="1624138" y="1837403"/>
            <a:ext cx="2169900" cy="49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Caveat Brush"/>
              <a:buNone/>
              <a:defRPr sz="3200">
                <a:solidFill>
                  <a:schemeClr val="accent2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3"/>
          </p:nvPr>
        </p:nvSpPr>
        <p:spPr>
          <a:xfrm>
            <a:off x="5349950" y="1837403"/>
            <a:ext cx="2169900" cy="49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veat Brush"/>
              <a:buNone/>
              <a:defRPr sz="3200">
                <a:solidFill>
                  <a:schemeClr val="accent3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4"/>
          </p:nvPr>
        </p:nvSpPr>
        <p:spPr>
          <a:xfrm>
            <a:off x="1624138" y="3673246"/>
            <a:ext cx="2169900" cy="49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veat Brush"/>
              <a:buNone/>
              <a:defRPr sz="3200">
                <a:solidFill>
                  <a:schemeClr val="accent1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5"/>
          </p:nvPr>
        </p:nvSpPr>
        <p:spPr>
          <a:xfrm>
            <a:off x="5349950" y="3673246"/>
            <a:ext cx="2169900" cy="495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Caveat Brush"/>
              <a:buNone/>
              <a:defRPr sz="3200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veat Brush"/>
              <a:buNone/>
              <a:defRPr sz="2000">
                <a:solidFill>
                  <a:schemeClr val="dk1"/>
                </a:solidFill>
                <a:latin typeface="Caveat Brush"/>
                <a:ea typeface="Caveat Brush"/>
                <a:cs typeface="Caveat Brush"/>
                <a:sym typeface="Caveat Brush"/>
              </a:defRPr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6"/>
          </p:nvPr>
        </p:nvSpPr>
        <p:spPr>
          <a:xfrm>
            <a:off x="1624138" y="2333632"/>
            <a:ext cx="2169600" cy="41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7"/>
          </p:nvPr>
        </p:nvSpPr>
        <p:spPr>
          <a:xfrm>
            <a:off x="5344975" y="2333632"/>
            <a:ext cx="2169600" cy="41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8"/>
          </p:nvPr>
        </p:nvSpPr>
        <p:spPr>
          <a:xfrm>
            <a:off x="1624138" y="4172625"/>
            <a:ext cx="2169600" cy="41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9"/>
          </p:nvPr>
        </p:nvSpPr>
        <p:spPr>
          <a:xfrm>
            <a:off x="5344975" y="4172625"/>
            <a:ext cx="2169600" cy="41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13" hasCustomPrompt="1"/>
          </p:nvPr>
        </p:nvSpPr>
        <p:spPr>
          <a:xfrm>
            <a:off x="2395937" y="1442627"/>
            <a:ext cx="603900" cy="4119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14" hasCustomPrompt="1"/>
          </p:nvPr>
        </p:nvSpPr>
        <p:spPr>
          <a:xfrm>
            <a:off x="6102312" y="1442627"/>
            <a:ext cx="603900" cy="4119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15" hasCustomPrompt="1"/>
          </p:nvPr>
        </p:nvSpPr>
        <p:spPr>
          <a:xfrm>
            <a:off x="2396087" y="3266822"/>
            <a:ext cx="603900" cy="4119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3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338954" y="-744501"/>
            <a:ext cx="3842029" cy="1296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 rot="-5400000">
            <a:off x="-1687302" y="103839"/>
            <a:ext cx="3435031" cy="2099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10800000">
            <a:off x="-1130650" y="-1476050"/>
            <a:ext cx="2321705" cy="239233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>
            <a:spLocks noGrp="1"/>
          </p:cNvSpPr>
          <p:nvPr>
            <p:ph type="body" idx="1"/>
          </p:nvPr>
        </p:nvSpPr>
        <p:spPr>
          <a:xfrm>
            <a:off x="4908600" y="1549700"/>
            <a:ext cx="3515700" cy="30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7969377" y="4230541"/>
            <a:ext cx="2865177" cy="1862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5431075" y="4021950"/>
            <a:ext cx="4410510" cy="175935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2" name="Google Shape;172;p18"/>
          <p:cNvSpPr txBox="1">
            <a:spLocks noGrp="1"/>
          </p:cNvSpPr>
          <p:nvPr>
            <p:ph type="body" idx="2"/>
          </p:nvPr>
        </p:nvSpPr>
        <p:spPr>
          <a:xfrm>
            <a:off x="720000" y="1549700"/>
            <a:ext cx="4125600" cy="30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3" name="Google Shape;173;p18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Caveat Brush"/>
              <a:buNone/>
              <a:defRPr sz="4800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1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/>
          <p:cNvPicPr preferRelativeResize="0"/>
          <p:nvPr/>
        </p:nvPicPr>
        <p:blipFill>
          <a:blip r:embed="rId2"/>
          <a:stretch>
            <a:fillRect/>
          </a:stretch>
        </p:blipFill>
        <p:spPr>
          <a:xfrm flipH="1">
            <a:off x="6323724" y="-307676"/>
            <a:ext cx="3909926" cy="131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/>
          <p:cNvPicPr preferRelativeResize="0"/>
          <p:nvPr/>
        </p:nvPicPr>
        <p:blipFill>
          <a:blip r:embed="rId3"/>
          <a:stretch>
            <a:fillRect/>
          </a:stretch>
        </p:blipFill>
        <p:spPr>
          <a:xfrm flipH="1">
            <a:off x="-1044726" y="4193074"/>
            <a:ext cx="4547526" cy="1814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/>
          <p:cNvPicPr preferRelativeResize="0"/>
          <p:nvPr/>
        </p:nvPicPr>
        <p:blipFill rotWithShape="1">
          <a:blip r:embed="rId4"/>
          <a:srcRect l="16999" r="33"/>
          <a:stretch>
            <a:fillRect/>
          </a:stretch>
        </p:blipFill>
        <p:spPr>
          <a:xfrm rot="5400000" flipH="1">
            <a:off x="7466789" y="4249414"/>
            <a:ext cx="3509946" cy="2586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/>
          <p:cNvPicPr preferRelativeResize="0"/>
          <p:nvPr/>
        </p:nvPicPr>
        <p:blipFill>
          <a:blip r:embed="rId5"/>
          <a:stretch>
            <a:fillRect/>
          </a:stretch>
        </p:blipFill>
        <p:spPr>
          <a:xfrm flipH="1">
            <a:off x="-1402325" y="3832225"/>
            <a:ext cx="2436820" cy="2716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/>
          <p:cNvPicPr preferRelativeResize="0"/>
          <p:nvPr/>
        </p:nvPicPr>
        <p:blipFill>
          <a:blip r:embed="rId6"/>
          <a:stretch>
            <a:fillRect/>
          </a:stretch>
        </p:blipFill>
        <p:spPr>
          <a:xfrm rot="5400000" flipH="1">
            <a:off x="-803629" y="4521532"/>
            <a:ext cx="2405575" cy="2478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/>
          <p:cNvPicPr preferRelativeResize="0"/>
          <p:nvPr/>
        </p:nvPicPr>
        <p:blipFill>
          <a:blip r:embed="rId6"/>
          <a:stretch>
            <a:fillRect/>
          </a:stretch>
        </p:blipFill>
        <p:spPr>
          <a:xfrm rot="5400000" flipH="1">
            <a:off x="8095502" y="3668429"/>
            <a:ext cx="2252526" cy="2321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/>
          <p:cNvPicPr preferRelativeResize="0"/>
          <p:nvPr/>
        </p:nvPicPr>
        <p:blipFill>
          <a:blip r:embed="rId7"/>
          <a:stretch>
            <a:fillRect/>
          </a:stretch>
        </p:blipFill>
        <p:spPr>
          <a:xfrm rot="10800000" flipH="1">
            <a:off x="-1668899" y="-840799"/>
            <a:ext cx="3179302" cy="206657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1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4"/>
          <p:cNvPicPr preferRelativeResize="0"/>
          <p:nvPr/>
        </p:nvPicPr>
        <p:blipFill rotWithShape="1">
          <a:blip r:embed="rId2"/>
          <a:srcRect l="19420" r="-72"/>
          <a:stretch>
            <a:fillRect/>
          </a:stretch>
        </p:blipFill>
        <p:spPr>
          <a:xfrm rot="5400000">
            <a:off x="-2585512" y="-578238"/>
            <a:ext cx="5264425" cy="134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5400000">
            <a:off x="6493037" y="4612212"/>
            <a:ext cx="4576550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4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-5400000">
            <a:off x="8219747" y="4088321"/>
            <a:ext cx="2380270" cy="2452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4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10800000">
            <a:off x="-2099816" y="-963928"/>
            <a:ext cx="3179302" cy="206657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40000" y="463800"/>
            <a:ext cx="716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800"/>
              <a:buFont typeface="Caveat Brush"/>
              <a:buNone/>
              <a:defRPr sz="4800">
                <a:solidFill>
                  <a:schemeClr val="accent5"/>
                </a:solidFill>
                <a:latin typeface="Caveat Brush"/>
                <a:ea typeface="Caveat Brush"/>
                <a:cs typeface="Caveat Brush"/>
                <a:sym typeface="Caveat Brus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44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90000" y="1875075"/>
            <a:ext cx="7164000" cy="2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 panose="02000000000000000000"/>
              <a:buChar char="●"/>
              <a:defRPr sz="1800"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●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○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 panose="02000000000000000000"/>
              <a:buChar char="■"/>
              <a:defRPr>
                <a:solidFill>
                  <a:schemeClr val="dk2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6" r:id="rId5"/>
    <p:sldLayoutId id="2147483659" r:id="rId6"/>
    <p:sldLayoutId id="2147483660" r:id="rId7"/>
    <p:sldLayoutId id="2147483665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"/>
          <p:cNvSpPr txBox="1">
            <a:spLocks noGrp="1"/>
          </p:cNvSpPr>
          <p:nvPr>
            <p:ph type="ctrTitle"/>
          </p:nvPr>
        </p:nvSpPr>
        <p:spPr>
          <a:xfrm>
            <a:off x="957771" y="730073"/>
            <a:ext cx="7488683" cy="3473275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/>
          <a:p>
            <a:r>
              <a:rPr lang="zh-CN" altLang="en-US" sz="2400" b="1" dirty="0"/>
              <a:t>开源项目活跃度预测与风险估计平台报告</a:t>
            </a:r>
            <a:br>
              <a:rPr lang="zh-CN" altLang="en-US" sz="2400" b="1" dirty="0"/>
            </a:br>
            <a:r>
              <a:rPr lang="en-US" altLang="zh-CN" sz="2400" b="1" dirty="0"/>
              <a:t>——</a:t>
            </a:r>
            <a:r>
              <a:rPr lang="zh-CN" altLang="en-US" sz="2400" b="1" dirty="0"/>
              <a:t>基于</a:t>
            </a:r>
            <a:r>
              <a:rPr lang="en-US" altLang="zh-CN" sz="2400" b="1" dirty="0" err="1"/>
              <a:t>OpenDigger</a:t>
            </a:r>
            <a:r>
              <a:rPr lang="zh-CN" altLang="en-US" sz="2400" b="1" dirty="0"/>
              <a:t>与</a:t>
            </a:r>
            <a:r>
              <a:rPr lang="en-US" altLang="zh-CN" sz="2400" b="1" dirty="0" err="1"/>
              <a:t>OpenSODA</a:t>
            </a:r>
            <a:r>
              <a:rPr lang="zh-CN" altLang="en-US" sz="2400" b="1" dirty="0"/>
              <a:t>的开源社区治理应用创新</a:t>
            </a:r>
            <a:br>
              <a:rPr lang="en-US" altLang="zh-CN" sz="2400" b="1" dirty="0"/>
            </a:br>
            <a:r>
              <a:rPr lang="en-US" altLang="zh-CN" sz="1600" dirty="0"/>
              <a:t> </a:t>
            </a:r>
            <a:br>
              <a:rPr lang="en-US" altLang="zh-CN" dirty="0"/>
            </a:br>
            <a:br>
              <a:rPr lang="zh-CN" altLang="en-US" dirty="0"/>
            </a:br>
            <a:r>
              <a:rPr lang="en-US" altLang="zh-CN" sz="1100" dirty="0"/>
              <a:t> </a:t>
            </a:r>
            <a:endParaRPr lang="en-US" dirty="0"/>
          </a:p>
        </p:txBody>
      </p:sp>
      <p:sp>
        <p:nvSpPr>
          <p:cNvPr id="263" name="Google Shape;263;p28"/>
          <p:cNvSpPr txBox="1">
            <a:spLocks noGrp="1"/>
          </p:cNvSpPr>
          <p:nvPr>
            <p:ph type="subTitle" idx="1"/>
          </p:nvPr>
        </p:nvSpPr>
        <p:spPr>
          <a:xfrm>
            <a:off x="990000" y="3406050"/>
            <a:ext cx="7164000" cy="55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zh-CN" altLang="en-US" dirty="0">
                <a:solidFill>
                  <a:srgbClr val="8397BA"/>
                </a:solidFill>
                <a:latin typeface="Caveat Brush" pitchFamily="2" charset="0"/>
              </a:rPr>
              <a:t>华东师范大学 数据科学与大数据</a:t>
            </a:r>
            <a:br>
              <a:rPr lang="zh-CN" altLang="en-US" dirty="0">
                <a:solidFill>
                  <a:srgbClr val="8397BA"/>
                </a:solidFill>
                <a:latin typeface="Caveat Brush" pitchFamily="2" charset="0"/>
              </a:rPr>
            </a:br>
            <a:r>
              <a:rPr lang="zh-CN" altLang="en-US" dirty="0">
                <a:solidFill>
                  <a:srgbClr val="8397BA"/>
                </a:solidFill>
                <a:latin typeface="Caveat Brush" pitchFamily="2" charset="0"/>
              </a:rPr>
              <a:t>大二 马誉铭 </a:t>
            </a:r>
            <a:r>
              <a:rPr lang="en-US" altLang="zh-CN" dirty="0">
                <a:solidFill>
                  <a:srgbClr val="8397BA"/>
                </a:solidFill>
                <a:latin typeface="Caveat Brush" pitchFamily="2" charset="0"/>
              </a:rPr>
              <a:t>10245501439</a:t>
            </a:r>
            <a:br>
              <a:rPr lang="en-US" altLang="zh-CN" dirty="0">
                <a:solidFill>
                  <a:srgbClr val="8397BA"/>
                </a:solidFill>
                <a:latin typeface="Caveat Brush" pitchFamily="2" charset="0"/>
              </a:rPr>
            </a:br>
            <a:endParaRPr lang="en-US" dirty="0">
              <a:solidFill>
                <a:srgbClr val="8397BA"/>
              </a:solidFill>
              <a:latin typeface="Caveat Brush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0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5400000">
            <a:off x="6086762" y="3055471"/>
            <a:ext cx="672225" cy="6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0"/>
          <p:cNvPicPr preferRelativeResize="0"/>
          <p:nvPr/>
        </p:nvPicPr>
        <p:blipFill>
          <a:blip r:embed="rId4"/>
          <a:stretch>
            <a:fillRect/>
          </a:stretch>
        </p:blipFill>
        <p:spPr>
          <a:xfrm rot="-5400000">
            <a:off x="2366375" y="1251555"/>
            <a:ext cx="666850" cy="65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5400000" flipH="1">
            <a:off x="6089377" y="1263843"/>
            <a:ext cx="638925" cy="66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0"/>
          <p:cNvPicPr preferRelativeResize="0"/>
          <p:nvPr/>
        </p:nvPicPr>
        <p:blipFill>
          <a:blip r:embed="rId5"/>
          <a:stretch>
            <a:fillRect/>
          </a:stretch>
        </p:blipFill>
        <p:spPr>
          <a:xfrm rot="-5400000" flipH="1">
            <a:off x="2388326" y="3068247"/>
            <a:ext cx="640900" cy="6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0"/>
          <p:cNvSpPr txBox="1">
            <a:spLocks noGrp="1"/>
          </p:cNvSpPr>
          <p:nvPr>
            <p:ph type="title"/>
          </p:nvPr>
        </p:nvSpPr>
        <p:spPr>
          <a:xfrm>
            <a:off x="990000" y="463800"/>
            <a:ext cx="7164000" cy="639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282" name="Google Shape;282;p30"/>
          <p:cNvSpPr txBox="1">
            <a:spLocks noGrp="1"/>
          </p:cNvSpPr>
          <p:nvPr>
            <p:ph type="title" idx="13"/>
          </p:nvPr>
        </p:nvSpPr>
        <p:spPr>
          <a:xfrm>
            <a:off x="2291080" y="1442720"/>
            <a:ext cx="864235" cy="412115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dirty="0"/>
              <a:t>01</a:t>
            </a:r>
          </a:p>
        </p:txBody>
      </p:sp>
      <p:sp>
        <p:nvSpPr>
          <p:cNvPr id="283" name="Google Shape;283;p30"/>
          <p:cNvSpPr txBox="1">
            <a:spLocks noGrp="1"/>
          </p:cNvSpPr>
          <p:nvPr>
            <p:ph type="title" idx="14"/>
          </p:nvPr>
        </p:nvSpPr>
        <p:spPr>
          <a:xfrm>
            <a:off x="5988050" y="1442720"/>
            <a:ext cx="869950" cy="412115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dirty="0"/>
              <a:t>02</a:t>
            </a:r>
          </a:p>
        </p:txBody>
      </p:sp>
      <p:sp>
        <p:nvSpPr>
          <p:cNvPr id="284" name="Google Shape;284;p30"/>
          <p:cNvSpPr txBox="1">
            <a:spLocks noGrp="1"/>
          </p:cNvSpPr>
          <p:nvPr>
            <p:ph type="title" idx="4294967295"/>
          </p:nvPr>
        </p:nvSpPr>
        <p:spPr>
          <a:xfrm>
            <a:off x="6740175" y="1471937"/>
            <a:ext cx="603900" cy="411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600">
                <a:solidFill>
                  <a:schemeClr val="lt2"/>
                </a:solidFill>
              </a:rPr>
              <a:t>03</a:t>
            </a:r>
            <a:endParaRPr sz="2600">
              <a:solidFill>
                <a:schemeClr val="lt2"/>
              </a:solidFill>
            </a:endParaRPr>
          </a:p>
        </p:txBody>
      </p:sp>
      <p:sp>
        <p:nvSpPr>
          <p:cNvPr id="285" name="Google Shape;285;p30"/>
          <p:cNvSpPr txBox="1">
            <a:spLocks noGrp="1"/>
          </p:cNvSpPr>
          <p:nvPr>
            <p:ph type="subTitle" idx="1"/>
          </p:nvPr>
        </p:nvSpPr>
        <p:spPr>
          <a:xfrm>
            <a:off x="1624137" y="1837403"/>
            <a:ext cx="2300915" cy="49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zh-CN" altLang="en-US" sz="2000" b="1" dirty="0"/>
              <a:t>第一阶段：</a:t>
            </a:r>
            <a:endParaRPr lang="en-US" altLang="zh-CN" sz="2000" b="1" dirty="0"/>
          </a:p>
        </p:txBody>
      </p:sp>
      <p:sp>
        <p:nvSpPr>
          <p:cNvPr id="286" name="Google Shape;286;p30"/>
          <p:cNvSpPr txBox="1">
            <a:spLocks noGrp="1"/>
          </p:cNvSpPr>
          <p:nvPr>
            <p:ph type="subTitle" idx="3"/>
          </p:nvPr>
        </p:nvSpPr>
        <p:spPr>
          <a:xfrm>
            <a:off x="5349950" y="1837403"/>
            <a:ext cx="2169900" cy="49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zh-CN" altLang="en-US" sz="2000" b="1" dirty="0"/>
              <a:t>第二阶段：</a:t>
            </a:r>
            <a:endParaRPr sz="2000" dirty="0">
              <a:solidFill>
                <a:schemeClr val="accent4"/>
              </a:solidFill>
              <a:latin typeface="Caveat Brush"/>
              <a:ea typeface="Caveat Brush"/>
              <a:cs typeface="Caveat Brush"/>
              <a:sym typeface="Caveat Brush"/>
            </a:endParaRPr>
          </a:p>
        </p:txBody>
      </p:sp>
      <p:sp>
        <p:nvSpPr>
          <p:cNvPr id="287" name="Google Shape;287;p30"/>
          <p:cNvSpPr txBox="1">
            <a:spLocks noGrp="1"/>
          </p:cNvSpPr>
          <p:nvPr>
            <p:ph type="title" idx="15"/>
          </p:nvPr>
        </p:nvSpPr>
        <p:spPr>
          <a:xfrm>
            <a:off x="2281555" y="3267075"/>
            <a:ext cx="869950" cy="412115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</a:t>
            </a:r>
          </a:p>
        </p:txBody>
      </p:sp>
      <p:sp>
        <p:nvSpPr>
          <p:cNvPr id="288" name="Google Shape;288;p30"/>
          <p:cNvSpPr txBox="1">
            <a:spLocks noGrp="1"/>
          </p:cNvSpPr>
          <p:nvPr>
            <p:ph type="title" idx="2"/>
          </p:nvPr>
        </p:nvSpPr>
        <p:spPr>
          <a:xfrm>
            <a:off x="5988050" y="3267075"/>
            <a:ext cx="869950" cy="412115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04</a:t>
            </a:r>
          </a:p>
        </p:txBody>
      </p:sp>
      <p:sp>
        <p:nvSpPr>
          <p:cNvPr id="289" name="Google Shape;289;p30"/>
          <p:cNvSpPr txBox="1">
            <a:spLocks noGrp="1"/>
          </p:cNvSpPr>
          <p:nvPr>
            <p:ph type="subTitle" idx="4"/>
          </p:nvPr>
        </p:nvSpPr>
        <p:spPr>
          <a:xfrm>
            <a:off x="1624138" y="3673246"/>
            <a:ext cx="2169900" cy="49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/>
              <a:t>第三阶段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290" name="Google Shape;290;p30"/>
          <p:cNvSpPr txBox="1">
            <a:spLocks noGrp="1"/>
          </p:cNvSpPr>
          <p:nvPr>
            <p:ph type="subTitle" idx="5"/>
          </p:nvPr>
        </p:nvSpPr>
        <p:spPr>
          <a:xfrm>
            <a:off x="5349950" y="3673246"/>
            <a:ext cx="2169900" cy="49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zh-CN" altLang="en-US" sz="2000" b="1" dirty="0"/>
              <a:t>第四阶段：</a:t>
            </a:r>
            <a:endParaRPr lang="en-US" sz="2000" b="1" dirty="0"/>
          </a:p>
        </p:txBody>
      </p:sp>
      <p:sp>
        <p:nvSpPr>
          <p:cNvPr id="291" name="Google Shape;291;p30"/>
          <p:cNvSpPr txBox="1">
            <a:spLocks noGrp="1"/>
          </p:cNvSpPr>
          <p:nvPr>
            <p:ph type="subTitle" idx="8"/>
          </p:nvPr>
        </p:nvSpPr>
        <p:spPr>
          <a:xfrm>
            <a:off x="1615000" y="4235911"/>
            <a:ext cx="2169600" cy="41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zh-CN" altLang="en-US" b="1" dirty="0"/>
              <a:t>应用落地</a:t>
            </a:r>
            <a:endParaRPr lang="en-US" b="1" dirty="0"/>
          </a:p>
        </p:txBody>
      </p:sp>
      <p:sp>
        <p:nvSpPr>
          <p:cNvPr id="292" name="Google Shape;292;p30"/>
          <p:cNvSpPr txBox="1">
            <a:spLocks noGrp="1"/>
          </p:cNvSpPr>
          <p:nvPr>
            <p:ph type="subTitle" idx="9"/>
          </p:nvPr>
        </p:nvSpPr>
        <p:spPr>
          <a:xfrm>
            <a:off x="5344975" y="4220272"/>
            <a:ext cx="2169600" cy="41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zh-CN" altLang="en-US" b="1" dirty="0"/>
              <a:t>洞察总结</a:t>
            </a:r>
            <a:endParaRPr lang="en-US" b="1" dirty="0"/>
          </a:p>
        </p:txBody>
      </p:sp>
      <p:sp>
        <p:nvSpPr>
          <p:cNvPr id="293" name="Google Shape;293;p30"/>
          <p:cNvSpPr txBox="1">
            <a:spLocks noGrp="1"/>
          </p:cNvSpPr>
          <p:nvPr>
            <p:ph type="subTitle" idx="6"/>
          </p:nvPr>
        </p:nvSpPr>
        <p:spPr>
          <a:xfrm>
            <a:off x="1624138" y="2333632"/>
            <a:ext cx="2169600" cy="41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zh-CN" altLang="en-US" b="1" dirty="0"/>
              <a:t>基础构建</a:t>
            </a:r>
            <a:endParaRPr lang="en-US" b="1" dirty="0"/>
          </a:p>
        </p:txBody>
      </p:sp>
      <p:sp>
        <p:nvSpPr>
          <p:cNvPr id="294" name="Google Shape;294;p30"/>
          <p:cNvSpPr txBox="1">
            <a:spLocks noGrp="1"/>
          </p:cNvSpPr>
          <p:nvPr>
            <p:ph type="subTitle" idx="7"/>
          </p:nvPr>
        </p:nvSpPr>
        <p:spPr>
          <a:xfrm>
            <a:off x="5344975" y="2308364"/>
            <a:ext cx="2169600" cy="41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/>
              <a:t>分析构建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"/>
          <p:cNvSpPr txBox="1">
            <a:spLocks noGrp="1"/>
          </p:cNvSpPr>
          <p:nvPr>
            <p:ph type="title"/>
          </p:nvPr>
        </p:nvSpPr>
        <p:spPr>
          <a:xfrm>
            <a:off x="2298688" y="1209000"/>
            <a:ext cx="4546500" cy="8193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r>
              <a:rPr lang="zh-CN" altLang="en-US" dirty="0"/>
              <a:t>引言</a:t>
            </a:r>
            <a:endParaRPr lang="en-US" dirty="0"/>
          </a:p>
        </p:txBody>
      </p:sp>
      <p:sp>
        <p:nvSpPr>
          <p:cNvPr id="300" name="Google Shape;300;p31"/>
          <p:cNvSpPr txBox="1">
            <a:spLocks noGrp="1"/>
          </p:cNvSpPr>
          <p:nvPr>
            <p:ph type="subTitle" idx="1"/>
          </p:nvPr>
        </p:nvSpPr>
        <p:spPr>
          <a:xfrm>
            <a:off x="1035050" y="2170225"/>
            <a:ext cx="7258050" cy="174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/>
            <a:r>
              <a:rPr lang="zh-CN" altLang="en-US" dirty="0"/>
              <a:t>      开源项目的“健康”不仅仅是星标数，当星标数无法反映社区健康，当活跃度背后隐藏着集中风险，我们需要看到贡献者多样性的真实状况，项目发展的可持续性趋势，社区治理的潜在风险信号</a:t>
            </a:r>
          </a:p>
          <a:p>
            <a:pPr marL="0" lvl="0" indent="0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2"/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800000">
            <a:off x="773645" y="1461100"/>
            <a:ext cx="1009575" cy="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/>
          <p:cNvSpPr txBox="1">
            <a:spLocks noGrp="1"/>
          </p:cNvSpPr>
          <p:nvPr>
            <p:ph type="title" idx="2"/>
          </p:nvPr>
        </p:nvSpPr>
        <p:spPr>
          <a:xfrm>
            <a:off x="990000" y="2284906"/>
            <a:ext cx="7164000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基础建构</a:t>
            </a:r>
            <a:endParaRPr lang="en-US" dirty="0"/>
          </a:p>
        </p:txBody>
      </p:sp>
      <p:sp>
        <p:nvSpPr>
          <p:cNvPr id="307" name="Google Shape;307;p32"/>
          <p:cNvSpPr txBox="1">
            <a:spLocks noGrp="1"/>
          </p:cNvSpPr>
          <p:nvPr>
            <p:ph type="title"/>
          </p:nvPr>
        </p:nvSpPr>
        <p:spPr>
          <a:xfrm>
            <a:off x="990000" y="1792672"/>
            <a:ext cx="1041900" cy="5388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</a:t>
            </a:r>
          </a:p>
        </p:txBody>
      </p:sp>
      <p:sp>
        <p:nvSpPr>
          <p:cNvPr id="308" name="Google Shape;308;p32"/>
          <p:cNvSpPr txBox="1">
            <a:spLocks noGrp="1"/>
          </p:cNvSpPr>
          <p:nvPr>
            <p:ph type="subTitle" idx="1"/>
          </p:nvPr>
        </p:nvSpPr>
        <p:spPr>
          <a:xfrm>
            <a:off x="989975" y="3112219"/>
            <a:ext cx="7164000" cy="4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dk2"/>
                </a:solidFill>
              </a:rPr>
              <a:t> </a:t>
            </a: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>
            <a:spLocks noGrp="1"/>
          </p:cNvSpPr>
          <p:nvPr>
            <p:ph type="body" idx="1"/>
          </p:nvPr>
        </p:nvSpPr>
        <p:spPr>
          <a:xfrm>
            <a:off x="720000" y="1460500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1</a:t>
            </a:r>
            <a:r>
              <a:rPr lang="zh-CN" altLang="en-US" sz="1800" dirty="0"/>
              <a:t>）开源项目广泛应用，但对健康度的评估依赖主观经验</a:t>
            </a:r>
            <a:endParaRPr lang="en-US" altLang="zh-C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2</a:t>
            </a:r>
            <a:r>
              <a:rPr lang="zh-CN" altLang="en-US" sz="1800" dirty="0"/>
              <a:t>）当前评估工具缺乏系统性与科学性</a:t>
            </a:r>
            <a:endParaRPr lang="en-US" altLang="zh-C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3</a:t>
            </a:r>
            <a:r>
              <a:rPr lang="zh-CN" altLang="en-US" sz="1800" dirty="0"/>
              <a:t>）大多数用户仅通过星标数等单一指标进行判断</a:t>
            </a:r>
            <a:endParaRPr lang="en-US" altLang="zh-C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4</a:t>
            </a:r>
            <a:r>
              <a:rPr lang="zh-CN" altLang="en-US" sz="1800" dirty="0"/>
              <a:t>）需要数据驱动的多维度评估方案</a:t>
            </a:r>
            <a:endParaRPr lang="en-US" sz="1800" dirty="0"/>
          </a:p>
        </p:txBody>
      </p:sp>
      <p:sp>
        <p:nvSpPr>
          <p:cNvPr id="314" name="Google Shape;314;p33"/>
          <p:cNvSpPr txBox="1"/>
          <p:nvPr/>
        </p:nvSpPr>
        <p:spPr>
          <a:xfrm>
            <a:off x="6091870" y="3474517"/>
            <a:ext cx="192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2"/>
                </a:solidFill>
                <a:latin typeface="Caveat Brush"/>
                <a:ea typeface="Caveat Brush"/>
                <a:cs typeface="Caveat Brush"/>
                <a:sym typeface="Caveat Brush"/>
              </a:rPr>
              <a:t>@nameandsurname_artist</a:t>
            </a:r>
            <a:r>
              <a:rPr lang="en-US" b="1">
                <a:solidFill>
                  <a:schemeClr val="accent2"/>
                </a:solidFill>
                <a:latin typeface="Caveat Brush"/>
                <a:ea typeface="Caveat Brush"/>
                <a:cs typeface="Caveat Brush"/>
                <a:sym typeface="Caveat Brush"/>
              </a:rPr>
              <a:t> </a:t>
            </a:r>
            <a:endParaRPr b="1">
              <a:solidFill>
                <a:schemeClr val="accent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316" name="Google Shape;316;p3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066650" y="3507650"/>
            <a:ext cx="357350" cy="3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3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1.1</a:t>
            </a:r>
            <a:r>
              <a:rPr lang="zh-CN" altLang="en-US" b="1" dirty="0"/>
              <a:t>项目背景</a:t>
            </a:r>
            <a:endParaRPr 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F1C86A-54F1-B150-F0F6-0B3345B0B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342" y="2724517"/>
            <a:ext cx="3525865" cy="2311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9ECAD771-DAFB-EF18-A2DA-650EB83CE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DFE84235-4F7F-A1CC-E73B-7EEE16537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460500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sz="2400" dirty="0"/>
              <a:t>✅ 自动化数据采集</a:t>
            </a:r>
          </a:p>
          <a:p>
            <a:r>
              <a:rPr lang="zh-CN" altLang="en-US" sz="2400" dirty="0"/>
              <a:t>✅ 科学预测分析</a:t>
            </a:r>
          </a:p>
          <a:p>
            <a:r>
              <a:rPr lang="zh-CN" altLang="en-US" sz="2400" dirty="0"/>
              <a:t>✅ 风险评估体系</a:t>
            </a:r>
          </a:p>
          <a:p>
            <a:r>
              <a:rPr lang="zh-CN" altLang="en-US" sz="2400" dirty="0"/>
              <a:t>✅ 可视化结果展示</a:t>
            </a:r>
          </a:p>
          <a:p>
            <a:r>
              <a:rPr lang="zh-CN" altLang="en-US" sz="2400" dirty="0"/>
              <a:t>✅ 与现有工具无缝集成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4" name="Google Shape;314;p33">
            <a:extLst>
              <a:ext uri="{FF2B5EF4-FFF2-40B4-BE49-F238E27FC236}">
                <a16:creationId xmlns:a16="http://schemas.microsoft.com/office/drawing/2014/main" id="{7F4C0264-172C-C779-8567-145B2B25D07C}"/>
              </a:ext>
            </a:extLst>
          </p:cNvPr>
          <p:cNvSpPr txBox="1"/>
          <p:nvPr/>
        </p:nvSpPr>
        <p:spPr>
          <a:xfrm>
            <a:off x="6091870" y="3474517"/>
            <a:ext cx="192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  <a:latin typeface="Caveat Brush"/>
                <a:ea typeface="Caveat Brush"/>
                <a:cs typeface="Caveat Brush"/>
                <a:sym typeface="Caveat Brush"/>
              </a:rPr>
              <a:t> </a:t>
            </a:r>
            <a:endParaRPr b="1" dirty="0">
              <a:solidFill>
                <a:schemeClr val="accent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316" name="Google Shape;316;p33">
            <a:extLst>
              <a:ext uri="{FF2B5EF4-FFF2-40B4-BE49-F238E27FC236}">
                <a16:creationId xmlns:a16="http://schemas.microsoft.com/office/drawing/2014/main" id="{4D3548E2-24C9-DF16-157B-C2A3C5BCEBC1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179076" y="4069781"/>
            <a:ext cx="357350" cy="3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26EC0807-D8C0-EF31-1C37-2789C5A79B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1.2</a:t>
            </a:r>
            <a:r>
              <a:rPr lang="zh-CN" altLang="en-US" b="1" dirty="0"/>
              <a:t>项目目标</a:t>
            </a:r>
            <a:endParaRPr 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868B2DF-4600-53BD-1D24-DB293CD6F3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9942" y="1363217"/>
            <a:ext cx="3451690" cy="231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94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25A0B821-B690-748C-A828-B4CA47B6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642674C6-AA9A-86BF-8297-5E62FFC613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460500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endParaRPr lang="zh-CN" altLang="en-US"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4" name="Google Shape;314;p33">
            <a:extLst>
              <a:ext uri="{FF2B5EF4-FFF2-40B4-BE49-F238E27FC236}">
                <a16:creationId xmlns:a16="http://schemas.microsoft.com/office/drawing/2014/main" id="{EEDC1737-0314-4968-5BF2-5A5B645F5CA6}"/>
              </a:ext>
            </a:extLst>
          </p:cNvPr>
          <p:cNvSpPr txBox="1"/>
          <p:nvPr/>
        </p:nvSpPr>
        <p:spPr>
          <a:xfrm>
            <a:off x="6091870" y="3474517"/>
            <a:ext cx="192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accent2"/>
                </a:solidFill>
                <a:latin typeface="Caveat Brush"/>
                <a:ea typeface="Caveat Brush"/>
                <a:cs typeface="Caveat Brush"/>
                <a:sym typeface="Caveat Brush"/>
              </a:rPr>
              <a:t> </a:t>
            </a:r>
            <a:endParaRPr b="1" dirty="0">
              <a:solidFill>
                <a:schemeClr val="accent2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316" name="Google Shape;316;p33">
            <a:extLst>
              <a:ext uri="{FF2B5EF4-FFF2-40B4-BE49-F238E27FC236}">
                <a16:creationId xmlns:a16="http://schemas.microsoft.com/office/drawing/2014/main" id="{BC532649-2E78-B135-62A3-3900C17CFEDB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179076" y="4069781"/>
            <a:ext cx="357350" cy="3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B2E3FB77-C862-4D87-D737-F3D1DDD215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1.3</a:t>
            </a:r>
            <a:r>
              <a:rPr lang="zh-CN" altLang="en-US" b="1" dirty="0"/>
              <a:t>总体流程</a:t>
            </a:r>
            <a:endParaRPr lang="en-US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91BC57-EEC8-330E-3EBE-562937317151}"/>
              </a:ext>
            </a:extLst>
          </p:cNvPr>
          <p:cNvSpPr txBox="1"/>
          <p:nvPr/>
        </p:nvSpPr>
        <p:spPr>
          <a:xfrm>
            <a:off x="2510805" y="2024676"/>
            <a:ext cx="250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Caveat Brush" pitchFamily="2" charset="0"/>
              </a:rPr>
              <a:t> </a:t>
            </a:r>
          </a:p>
        </p:txBody>
      </p:sp>
      <p:sp>
        <p:nvSpPr>
          <p:cNvPr id="9" name="六边形 8">
            <a:extLst>
              <a:ext uri="{FF2B5EF4-FFF2-40B4-BE49-F238E27FC236}">
                <a16:creationId xmlns:a16="http://schemas.microsoft.com/office/drawing/2014/main" id="{18CF24D5-8B0E-FE3D-624E-8B3BCF24CB3E}"/>
              </a:ext>
            </a:extLst>
          </p:cNvPr>
          <p:cNvSpPr/>
          <p:nvPr/>
        </p:nvSpPr>
        <p:spPr>
          <a:xfrm>
            <a:off x="72684" y="2255508"/>
            <a:ext cx="1281659" cy="107980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数据采集</a:t>
            </a:r>
          </a:p>
        </p:txBody>
      </p:sp>
      <p:sp>
        <p:nvSpPr>
          <p:cNvPr id="10" name="六边形 9">
            <a:extLst>
              <a:ext uri="{FF2B5EF4-FFF2-40B4-BE49-F238E27FC236}">
                <a16:creationId xmlns:a16="http://schemas.microsoft.com/office/drawing/2014/main" id="{50DA8537-BE35-D0B7-5059-1FB2433F75C3}"/>
              </a:ext>
            </a:extLst>
          </p:cNvPr>
          <p:cNvSpPr/>
          <p:nvPr/>
        </p:nvSpPr>
        <p:spPr>
          <a:xfrm>
            <a:off x="1800785" y="2255508"/>
            <a:ext cx="1281659" cy="107980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3716B161-5BC2-03C8-6429-7B173C018825}"/>
              </a:ext>
            </a:extLst>
          </p:cNvPr>
          <p:cNvSpPr/>
          <p:nvPr/>
        </p:nvSpPr>
        <p:spPr>
          <a:xfrm>
            <a:off x="3528886" y="2255508"/>
            <a:ext cx="1281659" cy="107980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六边形 11">
            <a:extLst>
              <a:ext uri="{FF2B5EF4-FFF2-40B4-BE49-F238E27FC236}">
                <a16:creationId xmlns:a16="http://schemas.microsoft.com/office/drawing/2014/main" id="{5ED80F43-264A-89B5-7120-35EDB6387FAB}"/>
              </a:ext>
            </a:extLst>
          </p:cNvPr>
          <p:cNvSpPr/>
          <p:nvPr/>
        </p:nvSpPr>
        <p:spPr>
          <a:xfrm>
            <a:off x="5256987" y="2255508"/>
            <a:ext cx="1281659" cy="107980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3E4EFC67-E336-533B-EA9F-C18C81B4BE79}"/>
              </a:ext>
            </a:extLst>
          </p:cNvPr>
          <p:cNvSpPr/>
          <p:nvPr/>
        </p:nvSpPr>
        <p:spPr>
          <a:xfrm>
            <a:off x="6960120" y="2255508"/>
            <a:ext cx="1281659" cy="107980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六边形 13">
            <a:extLst>
              <a:ext uri="{FF2B5EF4-FFF2-40B4-BE49-F238E27FC236}">
                <a16:creationId xmlns:a16="http://schemas.microsoft.com/office/drawing/2014/main" id="{42B36235-43F8-66C9-81C3-CEC4FD0851A3}"/>
              </a:ext>
            </a:extLst>
          </p:cNvPr>
          <p:cNvSpPr/>
          <p:nvPr/>
        </p:nvSpPr>
        <p:spPr>
          <a:xfrm>
            <a:off x="1800785" y="2255508"/>
            <a:ext cx="1281659" cy="107980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数据处理</a:t>
            </a:r>
          </a:p>
        </p:txBody>
      </p:sp>
      <p:sp>
        <p:nvSpPr>
          <p:cNvPr id="16" name="六边形 15">
            <a:extLst>
              <a:ext uri="{FF2B5EF4-FFF2-40B4-BE49-F238E27FC236}">
                <a16:creationId xmlns:a16="http://schemas.microsoft.com/office/drawing/2014/main" id="{1E1644E3-761E-BE43-7C97-1A9DB7069839}"/>
              </a:ext>
            </a:extLst>
          </p:cNvPr>
          <p:cNvSpPr/>
          <p:nvPr/>
        </p:nvSpPr>
        <p:spPr>
          <a:xfrm>
            <a:off x="3528886" y="2255508"/>
            <a:ext cx="1281659" cy="107980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分析建模</a:t>
            </a:r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6810DB1A-71F9-8C22-06C6-9F627DFDE8E3}"/>
              </a:ext>
            </a:extLst>
          </p:cNvPr>
          <p:cNvSpPr/>
          <p:nvPr/>
        </p:nvSpPr>
        <p:spPr>
          <a:xfrm>
            <a:off x="5256986" y="2255507"/>
            <a:ext cx="1281659" cy="107980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可视化展示</a:t>
            </a:r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BC4F8A0D-CD76-E765-9686-6F8E49781B14}"/>
              </a:ext>
            </a:extLst>
          </p:cNvPr>
          <p:cNvSpPr/>
          <p:nvPr/>
        </p:nvSpPr>
        <p:spPr>
          <a:xfrm>
            <a:off x="6960119" y="2255507"/>
            <a:ext cx="1281659" cy="1079803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应用整合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767F0F9-42DA-4B73-3C96-0DD3F5F08C72}"/>
              </a:ext>
            </a:extLst>
          </p:cNvPr>
          <p:cNvCxnSpPr>
            <a:stCxn id="9" idx="0"/>
            <a:endCxn id="14" idx="3"/>
          </p:cNvCxnSpPr>
          <p:nvPr/>
        </p:nvCxnSpPr>
        <p:spPr>
          <a:xfrm>
            <a:off x="1354343" y="2795410"/>
            <a:ext cx="4464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C81973B-B84E-EF9E-1CD2-6D1320FFF62E}"/>
              </a:ext>
            </a:extLst>
          </p:cNvPr>
          <p:cNvCxnSpPr>
            <a:stCxn id="14" idx="0"/>
            <a:endCxn id="16" idx="3"/>
          </p:cNvCxnSpPr>
          <p:nvPr/>
        </p:nvCxnSpPr>
        <p:spPr>
          <a:xfrm>
            <a:off x="3082444" y="2795410"/>
            <a:ext cx="44644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2FCACD1-8728-ED94-CB71-66B71F643215}"/>
              </a:ext>
            </a:extLst>
          </p:cNvPr>
          <p:cNvCxnSpPr>
            <a:stCxn id="16" idx="0"/>
            <a:endCxn id="17" idx="3"/>
          </p:cNvCxnSpPr>
          <p:nvPr/>
        </p:nvCxnSpPr>
        <p:spPr>
          <a:xfrm flipV="1">
            <a:off x="4810545" y="2795409"/>
            <a:ext cx="44644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FC7C1AC-07A7-81B4-EF5C-6B76D97390BA}"/>
              </a:ext>
            </a:extLst>
          </p:cNvPr>
          <p:cNvCxnSpPr>
            <a:stCxn id="17" idx="0"/>
            <a:endCxn id="18" idx="3"/>
          </p:cNvCxnSpPr>
          <p:nvPr/>
        </p:nvCxnSpPr>
        <p:spPr>
          <a:xfrm>
            <a:off x="6538645" y="2795409"/>
            <a:ext cx="42147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43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2948295B-CB0E-78FF-7DAB-2A0F0FDAB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80418CF5-7BA2-F722-B34E-CED1C49144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4" y="1310599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数据源：</a:t>
            </a:r>
            <a:r>
              <a:rPr lang="en-US" altLang="zh-CN" sz="1800" dirty="0" err="1"/>
              <a:t>OpenDigger</a:t>
            </a:r>
            <a:r>
              <a:rPr lang="zh-CN" altLang="en-US" sz="1800" dirty="0"/>
              <a:t>官方数据</a:t>
            </a:r>
            <a:endParaRPr lang="en-US" altLang="zh-C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时间跨度：</a:t>
            </a:r>
            <a:r>
              <a:rPr lang="en-US" altLang="zh-CN" sz="1800" dirty="0"/>
              <a:t>2015-2024</a:t>
            </a:r>
            <a:r>
              <a:rPr lang="zh-CN" altLang="en-US" sz="1800" dirty="0"/>
              <a:t>年</a:t>
            </a:r>
            <a:endParaRPr lang="en-US" altLang="zh-C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筛选指标：</a:t>
            </a:r>
            <a:r>
              <a:rPr lang="en-US" altLang="zh-CN" sz="1800" dirty="0"/>
              <a:t>15</a:t>
            </a:r>
            <a:r>
              <a:rPr lang="zh-CN" altLang="en-US" sz="1800" dirty="0"/>
              <a:t>个指标到</a:t>
            </a:r>
            <a:r>
              <a:rPr lang="en-US" altLang="zh-CN" sz="1800" dirty="0"/>
              <a:t>6</a:t>
            </a:r>
            <a:r>
              <a:rPr lang="zh-CN" altLang="en-US" sz="1800" dirty="0"/>
              <a:t>个核心</a:t>
            </a:r>
            <a:endParaRPr lang="en-US" altLang="zh-C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/>
              <a:t>原始：</a:t>
            </a:r>
            <a:r>
              <a:rPr lang="en-US" altLang="zh-CN" sz="2000" b="1" dirty="0"/>
              <a:t>120</a:t>
            </a:r>
            <a:r>
              <a:rPr lang="zh-CN" altLang="en-US" sz="2000" b="1" dirty="0"/>
              <a:t>个月度数据点</a:t>
            </a:r>
            <a:endParaRPr lang="en-US" altLang="zh-CN"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/>
              <a:t>清洗：标准化</a:t>
            </a:r>
            <a:r>
              <a:rPr lang="en-US" altLang="zh-CN" sz="2000" b="1" dirty="0"/>
              <a:t>+</a:t>
            </a:r>
            <a:r>
              <a:rPr lang="zh-CN" altLang="en-US" sz="2000" b="1" dirty="0"/>
              <a:t>去重</a:t>
            </a:r>
            <a:endParaRPr lang="en-US" altLang="zh-CN"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/>
              <a:t>分析：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个核心指标</a:t>
            </a:r>
            <a:endParaRPr lang="en-US" altLang="zh-CN"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/>
              <a:t>洞察：风险识别</a:t>
            </a:r>
            <a:r>
              <a:rPr lang="en-US" altLang="zh-CN" sz="2000" b="1" dirty="0"/>
              <a:t>+</a:t>
            </a:r>
            <a:r>
              <a:rPr lang="zh-CN" altLang="en-US" sz="2000" b="1" dirty="0"/>
              <a:t>趋势预测</a:t>
            </a:r>
            <a:endParaRPr lang="en-US" altLang="zh-CN" sz="2000" b="1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3552F858-CA22-E40D-9055-8826AA456E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1.4</a:t>
            </a:r>
            <a:r>
              <a:rPr lang="zh-CN" altLang="en-US" b="1" dirty="0"/>
              <a:t>数据采集</a:t>
            </a:r>
            <a:endParaRPr lang="en-US" b="1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5FEC9A-EAB3-7B79-16EC-D5E283B8E9A9}"/>
              </a:ext>
            </a:extLst>
          </p:cNvPr>
          <p:cNvSpPr txBox="1"/>
          <p:nvPr/>
        </p:nvSpPr>
        <p:spPr>
          <a:xfrm>
            <a:off x="4724400" y="1383251"/>
            <a:ext cx="3403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📈 </a:t>
            </a: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6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大核心指标</a:t>
            </a:r>
          </a:p>
          <a:p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• 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影响力：</a:t>
            </a:r>
            <a:r>
              <a:rPr lang="en-US" altLang="zh-CN" sz="2000" dirty="0" err="1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openrank</a:t>
            </a:r>
            <a:endParaRPr lang="en-US" altLang="zh-CN" sz="2000" dirty="0">
              <a:solidFill>
                <a:schemeClr val="tx1">
                  <a:lumMod val="75000"/>
                </a:schemeClr>
              </a:solidFill>
              <a:latin typeface="Caveat Brush" pitchFamily="2" charset="0"/>
            </a:endParaRPr>
          </a:p>
          <a:p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• 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风险：</a:t>
            </a:r>
            <a:r>
              <a:rPr lang="en-US" altLang="zh-CN" sz="2000" dirty="0" err="1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bus_factor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（重点监测）</a:t>
            </a:r>
          </a:p>
          <a:p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• 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社区规模：</a:t>
            </a: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participants  </a:t>
            </a:r>
          </a:p>
          <a:p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• 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社区增长：</a:t>
            </a:r>
            <a:r>
              <a:rPr lang="en-US" altLang="zh-CN" sz="2000" dirty="0" err="1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new_contributors</a:t>
            </a:r>
            <a:endParaRPr lang="en-US" altLang="zh-CN" sz="2000" dirty="0">
              <a:solidFill>
                <a:schemeClr val="tx1">
                  <a:lumMod val="75000"/>
                </a:schemeClr>
              </a:solidFill>
              <a:latin typeface="Caveat Brush" pitchFamily="2" charset="0"/>
            </a:endParaRPr>
          </a:p>
          <a:p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• 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用户参与：</a:t>
            </a:r>
            <a:r>
              <a:rPr lang="en-US" altLang="zh-CN" sz="2000" dirty="0" err="1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issues_new</a:t>
            </a:r>
            <a:endParaRPr lang="en-US" altLang="zh-CN" sz="2000" dirty="0">
              <a:solidFill>
                <a:schemeClr val="tx1">
                  <a:lumMod val="75000"/>
                </a:schemeClr>
              </a:solidFill>
              <a:latin typeface="Caveat Brush" pitchFamily="2" charset="0"/>
            </a:endParaRPr>
          </a:p>
          <a:p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• 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开发活跃度：</a:t>
            </a:r>
            <a:r>
              <a:rPr lang="en-US" altLang="zh-CN" sz="2000" dirty="0" err="1">
                <a:solidFill>
                  <a:schemeClr val="tx1">
                    <a:lumMod val="75000"/>
                  </a:schemeClr>
                </a:solidFill>
                <a:latin typeface="Caveat Brush" pitchFamily="2" charset="0"/>
              </a:rPr>
              <a:t>change_requests</a:t>
            </a:r>
            <a:endParaRPr lang="en-US" altLang="zh-CN" sz="2000" dirty="0">
              <a:solidFill>
                <a:schemeClr val="tx1">
                  <a:lumMod val="75000"/>
                </a:schemeClr>
              </a:solidFill>
              <a:latin typeface="Caveat Brush" pitchFamily="2" charset="0"/>
            </a:endParaRPr>
          </a:p>
          <a:p>
            <a:endParaRPr lang="en-US" altLang="zh-CN" dirty="0"/>
          </a:p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0131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A59EB76B-571E-D950-347C-54A10E27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D2F3ACD3-BFCE-BF33-2E52-AB5D594DFE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4" y="1310599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2000" b="1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6503323E-088F-F1EA-C6E4-CA62858BBD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lang="en-US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3B32C6-432B-2B00-FD2A-E115342936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900" t="13686" r="1083" b="1311"/>
          <a:stretch>
            <a:fillRect/>
          </a:stretch>
        </p:blipFill>
        <p:spPr>
          <a:xfrm>
            <a:off x="-12310" y="1445692"/>
            <a:ext cx="4314310" cy="191927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7489867-21FF-93BC-4C5F-EE02B57658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662" t="10025"/>
          <a:stretch>
            <a:fillRect/>
          </a:stretch>
        </p:blipFill>
        <p:spPr>
          <a:xfrm>
            <a:off x="4842002" y="1310599"/>
            <a:ext cx="4000178" cy="2245242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53A99F2-AD38-F56D-F373-0C126577923F}"/>
              </a:ext>
            </a:extLst>
          </p:cNvPr>
          <p:cNvCxnSpPr>
            <a:stCxn id="3" idx="3"/>
          </p:cNvCxnSpPr>
          <p:nvPr/>
        </p:nvCxnSpPr>
        <p:spPr>
          <a:xfrm>
            <a:off x="4302000" y="2405329"/>
            <a:ext cx="54000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616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B79EE02A-C33E-ECEC-4866-BB2FCB6BA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75E76DF7-130B-FEA5-C88E-D926C27238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4" y="1310599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/>
              <a:t>线性回归模型</a:t>
            </a:r>
            <a:r>
              <a:rPr lang="en-US" altLang="zh-CN" sz="1800" b="1" dirty="0"/>
              <a:t>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/>
              <a:t>开源项目活跃度存在稳定的线性驱动因素</a:t>
            </a:r>
            <a:endParaRPr lang="en-US" altLang="zh-C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/>
              <a:t>验证过程：</a:t>
            </a:r>
            <a:endParaRPr lang="en-US" altLang="zh-CN" sz="1800" b="1" dirty="0"/>
          </a:p>
          <a:p>
            <a:pPr marL="0" lvl="0" indent="0">
              <a:buNone/>
            </a:pPr>
            <a:r>
              <a:rPr lang="zh-CN" altLang="en-US" sz="1800" dirty="0"/>
              <a:t>看</a:t>
            </a:r>
            <a:r>
              <a:rPr lang="en-US" altLang="zh-CN" sz="1800" dirty="0"/>
              <a:t>R²</a:t>
            </a:r>
            <a:r>
              <a:rPr lang="zh-CN" altLang="en-US" sz="1800" dirty="0"/>
              <a:t>，还要看误差分布和稳定性</a:t>
            </a:r>
            <a:endParaRPr lang="en-US" altLang="zh-CN" sz="1800" dirty="0"/>
          </a:p>
          <a:p>
            <a:pPr marL="0" lvl="0" indent="0">
              <a:buNone/>
            </a:pPr>
            <a:r>
              <a:rPr lang="zh-CN" altLang="en-US" sz="1800" b="1" dirty="0"/>
              <a:t>依据公式：</a:t>
            </a:r>
            <a:endParaRPr lang="en-US" altLang="zh-CN" sz="1800" b="1" dirty="0"/>
          </a:p>
          <a:p>
            <a:pPr marL="0" lvl="0" indent="0">
              <a:buNone/>
            </a:pPr>
            <a:r>
              <a:rPr lang="es-ES" altLang="zh-CN" sz="2000" b="1" dirty="0"/>
              <a:t>y = β₀ + β₁x₁ + ... + β₆x₆ </a:t>
            </a:r>
          </a:p>
          <a:p>
            <a:pPr marL="0" lvl="0" indent="0">
              <a:buNone/>
            </a:pPr>
            <a:r>
              <a:rPr lang="el-GR" altLang="zh-CN" sz="1800" dirty="0"/>
              <a:t>β</a:t>
            </a:r>
            <a:r>
              <a:rPr lang="zh-CN" altLang="en-US" sz="1800" dirty="0"/>
              <a:t>代表选取的</a:t>
            </a:r>
            <a:r>
              <a:rPr lang="en-US" altLang="zh-CN" sz="1800" dirty="0"/>
              <a:t>6</a:t>
            </a:r>
            <a:r>
              <a:rPr lang="zh-CN" altLang="en-US" sz="1800" dirty="0"/>
              <a:t>个关键指标</a:t>
            </a:r>
            <a:endParaRPr lang="en-US" altLang="zh-CN" sz="1800" dirty="0"/>
          </a:p>
          <a:p>
            <a:pPr marL="0" lvl="0" indent="0"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1FF026A8-141A-E5F6-7D2B-12240AAD42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1.5</a:t>
            </a:r>
            <a:r>
              <a:rPr lang="zh-CN" altLang="en-US" b="1" dirty="0"/>
              <a:t>模型选择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08666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54E06F71-012B-9340-CE2F-46706F768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2">
            <a:extLst>
              <a:ext uri="{FF2B5EF4-FFF2-40B4-BE49-F238E27FC236}">
                <a16:creationId xmlns:a16="http://schemas.microsoft.com/office/drawing/2014/main" id="{6397A745-4012-75F2-44AA-7767AD8B22E5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800000">
            <a:off x="773645" y="1461100"/>
            <a:ext cx="1009575" cy="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>
            <a:extLst>
              <a:ext uri="{FF2B5EF4-FFF2-40B4-BE49-F238E27FC236}">
                <a16:creationId xmlns:a16="http://schemas.microsoft.com/office/drawing/2014/main" id="{61413921-6628-BFE0-E3F0-62F19402A3F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90000" y="2284906"/>
            <a:ext cx="7164000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/>
              <a:t>分析构建</a:t>
            </a:r>
            <a:endParaRPr lang="en-US" b="1" dirty="0"/>
          </a:p>
        </p:txBody>
      </p:sp>
      <p:sp>
        <p:nvSpPr>
          <p:cNvPr id="307" name="Google Shape;307;p32">
            <a:extLst>
              <a:ext uri="{FF2B5EF4-FFF2-40B4-BE49-F238E27FC236}">
                <a16:creationId xmlns:a16="http://schemas.microsoft.com/office/drawing/2014/main" id="{7EBA4537-B1E5-DB2C-D37E-7F9354EA30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000" y="1792672"/>
            <a:ext cx="1041900" cy="5388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02</a:t>
            </a:r>
          </a:p>
        </p:txBody>
      </p:sp>
      <p:sp>
        <p:nvSpPr>
          <p:cNvPr id="308" name="Google Shape;308;p32">
            <a:extLst>
              <a:ext uri="{FF2B5EF4-FFF2-40B4-BE49-F238E27FC236}">
                <a16:creationId xmlns:a16="http://schemas.microsoft.com/office/drawing/2014/main" id="{1B0303D1-F627-B561-8ADC-09053147BA6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9975" y="3112219"/>
            <a:ext cx="7164000" cy="4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dk2"/>
                </a:solidFill>
              </a:rPr>
              <a:t> </a:t>
            </a:r>
            <a:endParaRPr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205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FF119286-D33B-6A67-F6C8-B24069101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E99E6B39-25FB-8224-23DE-FC48661FF4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4" y="1310599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sz="2000" b="1" dirty="0"/>
              <a:t>三级风险评估体系</a:t>
            </a:r>
          </a:p>
          <a:p>
            <a:r>
              <a:rPr lang="zh-CN" altLang="en-US" dirty="0"/>
              <a:t>🔴</a:t>
            </a:r>
            <a:r>
              <a:rPr lang="zh-CN" altLang="en-US" sz="2000" b="1" dirty="0"/>
              <a:t>高风险</a:t>
            </a:r>
            <a:r>
              <a:rPr lang="zh-CN" altLang="en-US" sz="2000" dirty="0"/>
              <a:t>：</a:t>
            </a:r>
            <a:r>
              <a:rPr lang="en-US" altLang="zh-CN" sz="2000" dirty="0" err="1"/>
              <a:t>bus_factor</a:t>
            </a:r>
            <a:r>
              <a:rPr lang="en-US" altLang="zh-CN" sz="2000" dirty="0"/>
              <a:t> &lt; 10</a:t>
            </a:r>
            <a:br>
              <a:rPr lang="en-US" altLang="zh-CN" sz="2000" dirty="0"/>
            </a:br>
            <a:r>
              <a:rPr lang="en-US" altLang="zh-CN" sz="2000" dirty="0"/>
              <a:t>→ </a:t>
            </a:r>
            <a:r>
              <a:rPr lang="zh-CN" altLang="en-US" sz="2000" dirty="0"/>
              <a:t>贡献者高度集中</a:t>
            </a:r>
          </a:p>
          <a:p>
            <a:r>
              <a:rPr lang="zh-CN" altLang="en-US" dirty="0"/>
              <a:t>🟡</a:t>
            </a:r>
            <a:r>
              <a:rPr lang="zh-CN" altLang="en-US" sz="2000" b="1" dirty="0"/>
              <a:t>中风险</a:t>
            </a:r>
            <a:r>
              <a:rPr lang="zh-CN" altLang="en-US" sz="2000" dirty="0"/>
              <a:t>：</a:t>
            </a:r>
            <a:r>
              <a:rPr lang="en-US" altLang="zh-CN" sz="2000" dirty="0"/>
              <a:t>10 ≤ </a:t>
            </a:r>
            <a:r>
              <a:rPr lang="en-US" altLang="zh-CN" sz="2000" dirty="0" err="1"/>
              <a:t>bus_factor</a:t>
            </a:r>
            <a:r>
              <a:rPr lang="en-US" altLang="zh-CN" sz="2000" dirty="0"/>
              <a:t> &lt; 50</a:t>
            </a:r>
            <a:br>
              <a:rPr lang="en-US" altLang="zh-CN" sz="2000" dirty="0"/>
            </a:br>
            <a:r>
              <a:rPr lang="en-US" altLang="zh-CN" sz="2000" dirty="0"/>
              <a:t>→ </a:t>
            </a:r>
            <a:r>
              <a:rPr lang="zh-CN" altLang="en-US" sz="2000" dirty="0"/>
              <a:t>贡献者多样性不足</a:t>
            </a:r>
          </a:p>
          <a:p>
            <a:r>
              <a:rPr lang="zh-CN" altLang="en-US" dirty="0"/>
              <a:t>🟢</a:t>
            </a:r>
            <a:r>
              <a:rPr lang="zh-CN" altLang="en-US" sz="2000" b="1" dirty="0"/>
              <a:t>低风险</a:t>
            </a:r>
            <a:r>
              <a:rPr lang="zh-CN" altLang="en-US" sz="2000" dirty="0"/>
              <a:t>：</a:t>
            </a:r>
            <a:r>
              <a:rPr lang="en-US" altLang="zh-CN" sz="2000" dirty="0" err="1"/>
              <a:t>bus_factor</a:t>
            </a:r>
            <a:r>
              <a:rPr lang="en-US" altLang="zh-CN" sz="2000" dirty="0"/>
              <a:t> ≥ 50</a:t>
            </a:r>
            <a:br>
              <a:rPr lang="en-US" altLang="zh-CN" sz="2000" dirty="0"/>
            </a:br>
            <a:r>
              <a:rPr lang="en-US" altLang="zh-CN" sz="2000" dirty="0"/>
              <a:t>→ </a:t>
            </a:r>
            <a:r>
              <a:rPr lang="zh-CN" altLang="en-US" sz="2000" dirty="0"/>
              <a:t>社区结构健康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3B9B733A-1500-5951-0444-0125EA41F2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/>
              <a:t>2.1</a:t>
            </a:r>
            <a:r>
              <a:rPr lang="zh-CN" altLang="en-US" b="1" dirty="0"/>
              <a:t>风险估计模型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46046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649EDBAA-A7C4-4961-A984-5F68E5055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E4B5F4FF-2608-F60D-7AA9-11DE848C7C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4" y="1310599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latinLnBrk="1">
              <a:buNone/>
            </a:pPr>
            <a:r>
              <a:rPr lang="en-US" altLang="zh-CN" sz="2000" dirty="0"/>
              <a:t>1.</a:t>
            </a:r>
            <a:r>
              <a:rPr lang="zh-CN" altLang="en-US" sz="2000" dirty="0"/>
              <a:t>预测验证 → 模型是否可靠</a:t>
            </a:r>
          </a:p>
          <a:p>
            <a:pPr marL="152400" indent="0" latinLnBrk="1">
              <a:buNone/>
            </a:pPr>
            <a:r>
              <a:rPr lang="en-US" altLang="zh-CN" sz="2000" dirty="0"/>
              <a:t>2. </a:t>
            </a:r>
            <a:r>
              <a:rPr lang="zh-CN" altLang="en-US" sz="2000" dirty="0"/>
              <a:t>因素解析 → 什么影响活跃度  </a:t>
            </a:r>
          </a:p>
          <a:p>
            <a:pPr marL="152400" indent="0" latinLnBrk="1">
              <a:buNone/>
            </a:pPr>
            <a:r>
              <a:rPr lang="en-US" altLang="zh-CN" sz="2000" dirty="0"/>
              <a:t>3. </a:t>
            </a:r>
            <a:r>
              <a:rPr lang="zh-CN" altLang="en-US" sz="2000" dirty="0"/>
              <a:t>现状对比 → 项目差异在哪</a:t>
            </a:r>
          </a:p>
          <a:p>
            <a:pPr marL="152400" indent="0" latinLnBrk="1">
              <a:buNone/>
            </a:pPr>
            <a:r>
              <a:rPr lang="en-US" altLang="zh-CN" sz="2000" dirty="0"/>
              <a:t>4. </a:t>
            </a:r>
            <a:r>
              <a:rPr lang="zh-CN" altLang="en-US" sz="2000" dirty="0"/>
              <a:t>风险定位 → 风险如何分布</a:t>
            </a:r>
            <a:endParaRPr lang="en-US" altLang="zh-CN" sz="2000" dirty="0"/>
          </a:p>
          <a:p>
            <a:pPr marL="152400" indent="0" latinLnBrk="1">
              <a:buNone/>
            </a:pPr>
            <a:r>
              <a:rPr lang="en-US" altLang="zh-CN" sz="2000" dirty="0"/>
              <a:t>5. </a:t>
            </a:r>
            <a:r>
              <a:rPr lang="zh-CN" altLang="en-US" sz="2000" dirty="0"/>
              <a:t>误差评估 → 预测是否准确</a:t>
            </a:r>
          </a:p>
          <a:p>
            <a:pPr marL="152400" indent="0" latinLnBrk="1">
              <a:buNone/>
            </a:pPr>
            <a:endParaRPr lang="zh-CN" altLang="en-US" sz="2000" dirty="0"/>
          </a:p>
          <a:p>
            <a:pPr marL="152400" indent="0">
              <a:buNone/>
            </a:pPr>
            <a:endParaRPr lang="zh-CN" alt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D33AE486-9A45-9454-6A66-AB2E112646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/>
              <a:t>2.2</a:t>
            </a:r>
            <a:r>
              <a:rPr lang="zh-CN" altLang="en-US" b="1" dirty="0"/>
              <a:t>图表展示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3503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27613C9B-2178-F04A-E08E-0ECC4FE1F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A9591566-CDE8-1492-009B-A72152536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4" y="1310599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latinLnBrk="1">
              <a:buNone/>
            </a:pPr>
            <a:r>
              <a:rPr lang="en-US" altLang="zh-CN" sz="2000" dirty="0"/>
              <a:t> </a:t>
            </a:r>
            <a:endParaRPr lang="zh-CN" altLang="en-US" sz="2000" dirty="0"/>
          </a:p>
          <a:p>
            <a:pPr marL="152400" indent="0" latinLnBrk="1">
              <a:buNone/>
            </a:pPr>
            <a:endParaRPr lang="zh-CN" altLang="en-US" sz="2000" dirty="0"/>
          </a:p>
          <a:p>
            <a:pPr marL="152400" indent="0">
              <a:buNone/>
            </a:pPr>
            <a:endParaRPr lang="zh-CN" alt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85CD6486-D194-C6D2-82E9-7571936AB0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zh-CN" altLang="en-US" sz="2000" b="1" dirty="0"/>
              <a:t>预测验证散点图</a:t>
            </a:r>
            <a:endParaRPr lang="en-US" sz="20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17BF80-0AB6-696C-72C5-6BEFBD653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61" y="952500"/>
            <a:ext cx="3358540" cy="40068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AADA872-99B6-2F96-FB57-59F0A9D70046}"/>
              </a:ext>
            </a:extLst>
          </p:cNvPr>
          <p:cNvSpPr txBox="1"/>
          <p:nvPr/>
        </p:nvSpPr>
        <p:spPr>
          <a:xfrm>
            <a:off x="4063039" y="1310599"/>
            <a:ext cx="33410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Caveat Brush" pitchFamily="2" charset="0"/>
              </a:rPr>
              <a:t>模型验证结果：</a:t>
            </a:r>
            <a:endParaRPr lang="en-US" altLang="zh-CN" dirty="0">
              <a:latin typeface="Caveat Brush" pitchFamily="2" charset="0"/>
            </a:endParaRPr>
          </a:p>
          <a:p>
            <a:r>
              <a:rPr lang="zh-CN" altLang="en-US" dirty="0">
                <a:latin typeface="Caveat Brush" pitchFamily="2" charset="0"/>
              </a:rPr>
              <a:t>散点密集分布在一条直线上</a:t>
            </a:r>
            <a:endParaRPr lang="en-US" altLang="zh-CN" dirty="0">
              <a:latin typeface="Caveat Brush" pitchFamily="2" charset="0"/>
            </a:endParaRPr>
          </a:p>
          <a:p>
            <a:r>
              <a:rPr lang="zh-CN" altLang="en-US" dirty="0">
                <a:latin typeface="Caveat Brush" pitchFamily="2" charset="0"/>
              </a:rPr>
              <a:t>对角线参考线为理想情况</a:t>
            </a:r>
            <a:endParaRPr lang="en-US" altLang="zh-CN" dirty="0">
              <a:latin typeface="Caveat Brush" pitchFamily="2" charset="0"/>
            </a:endParaRPr>
          </a:p>
          <a:p>
            <a:r>
              <a:rPr lang="en-US" altLang="zh-CN" dirty="0">
                <a:latin typeface="Caveat Brush" pitchFamily="2" charset="0"/>
              </a:rPr>
              <a:t>R²=0.9796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2459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D40ACCDB-B568-54B1-73B1-F26AF3751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57CEE413-C964-B22A-BC05-15A57D9726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4" y="1310599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latinLnBrk="1">
              <a:buNone/>
            </a:pPr>
            <a:r>
              <a:rPr lang="en-US" altLang="zh-CN" sz="2000" dirty="0"/>
              <a:t> </a:t>
            </a:r>
            <a:endParaRPr lang="zh-CN" altLang="en-US" sz="2000" dirty="0"/>
          </a:p>
          <a:p>
            <a:pPr marL="152400" indent="0" latinLnBrk="1">
              <a:buNone/>
            </a:pPr>
            <a:endParaRPr lang="zh-CN" altLang="en-US" sz="2000" dirty="0"/>
          </a:p>
          <a:p>
            <a:pPr marL="152400" indent="0">
              <a:buNone/>
            </a:pPr>
            <a:endParaRPr lang="zh-CN" alt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BD7029A9-50F2-3129-4806-DA3E3EA1FA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zh-CN" altLang="en-US" sz="2000" b="1" dirty="0"/>
              <a:t>特征重要性条形图</a:t>
            </a:r>
            <a:endParaRPr lang="en-US" sz="20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E5FEB0-6162-98D2-92E1-2DD993309E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8960" y="1628962"/>
            <a:ext cx="3668159" cy="289858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A6BDE2A-1966-8016-CC00-DD176AAFBD28}"/>
              </a:ext>
            </a:extLst>
          </p:cNvPr>
          <p:cNvSpPr txBox="1"/>
          <p:nvPr/>
        </p:nvSpPr>
        <p:spPr>
          <a:xfrm>
            <a:off x="4302000" y="1713048"/>
            <a:ext cx="33410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zh-CN" altLang="en-US" dirty="0">
                <a:latin typeface="Caveat Brush" pitchFamily="2" charset="0"/>
              </a:rPr>
              <a:t>关键驱动因素：</a:t>
            </a:r>
            <a:endParaRPr lang="en-US" altLang="zh-CN" dirty="0">
              <a:latin typeface="Caveat Brush" pitchFamily="2" charset="0"/>
            </a:endParaRPr>
          </a:p>
          <a:p>
            <a:r>
              <a:rPr lang="en-US" altLang="zh-CN" dirty="0" err="1">
                <a:latin typeface="Caveat Brush" pitchFamily="2" charset="0"/>
              </a:rPr>
              <a:t>openrank,bus_factor</a:t>
            </a:r>
            <a:r>
              <a:rPr lang="zh-CN" altLang="en-US" dirty="0">
                <a:latin typeface="Caveat Brush" pitchFamily="2" charset="0"/>
              </a:rPr>
              <a:t>影响都很大</a:t>
            </a:r>
            <a:endParaRPr lang="en-US" altLang="zh-CN" dirty="0">
              <a:latin typeface="Caveat Brush" pitchFamily="2" charset="0"/>
            </a:endParaRPr>
          </a:p>
          <a:p>
            <a:r>
              <a:rPr lang="zh-CN" altLang="en-US" dirty="0">
                <a:latin typeface="Caveat Brush" pitchFamily="2" charset="0"/>
              </a:rPr>
              <a:t>为风险评估提供数据依据</a:t>
            </a:r>
            <a:endParaRPr lang="en-US" altLang="zh-CN" dirty="0">
              <a:latin typeface="Caveat Brush" pitchFamily="2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268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F372852C-3E6F-3F5F-FFD3-B40B5F69D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D0AFA513-B80A-02F5-9865-F34A813066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4" y="1310599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latinLnBrk="1">
              <a:buNone/>
            </a:pPr>
            <a:r>
              <a:rPr lang="en-US" altLang="zh-CN" sz="2000" dirty="0"/>
              <a:t> </a:t>
            </a:r>
            <a:endParaRPr lang="zh-CN" altLang="en-US" sz="2000" dirty="0"/>
          </a:p>
          <a:p>
            <a:pPr marL="152400" indent="0" latinLnBrk="1">
              <a:buNone/>
            </a:pPr>
            <a:endParaRPr lang="zh-CN" altLang="en-US" sz="2000" dirty="0"/>
          </a:p>
          <a:p>
            <a:pPr marL="152400" indent="0">
              <a:buNone/>
            </a:pPr>
            <a:endParaRPr lang="zh-CN" alt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746DF21C-E587-3BDC-E300-56CE3D7D77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zh-CN" altLang="en-US" sz="2000" b="1" dirty="0"/>
              <a:t>活跃度趋势折线图</a:t>
            </a:r>
            <a:endParaRPr lang="en-US" sz="20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961B4B-5988-6B3F-DB1B-09790C3641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2564" y="1122455"/>
            <a:ext cx="3466836" cy="358873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0F2FB9B-41DB-2587-C13D-09941C8EABA3}"/>
              </a:ext>
            </a:extLst>
          </p:cNvPr>
          <p:cNvSpPr txBox="1"/>
          <p:nvPr/>
        </p:nvSpPr>
        <p:spPr>
          <a:xfrm>
            <a:off x="4302000" y="1713048"/>
            <a:ext cx="34668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zh-CN" altLang="en-US" dirty="0"/>
              <a:t>四项目历史对比：</a:t>
            </a:r>
            <a:endParaRPr lang="en-US" altLang="zh-CN" dirty="0"/>
          </a:p>
          <a:p>
            <a:pPr latinLnBrk="1"/>
            <a:endParaRPr lang="zh-CN" altLang="en-US" dirty="0">
              <a:latin typeface="Caveat Brush" pitchFamily="2" charset="0"/>
            </a:endParaRPr>
          </a:p>
          <a:p>
            <a:pPr latinLnBrk="1"/>
            <a:r>
              <a:rPr lang="en-US" altLang="zh-CN" dirty="0" err="1">
                <a:latin typeface="Caveat Brush" pitchFamily="2" charset="0"/>
              </a:rPr>
              <a:t>PyTorch</a:t>
            </a:r>
            <a:r>
              <a:rPr lang="zh-CN" altLang="en-US" dirty="0">
                <a:latin typeface="Caveat Brush" pitchFamily="2" charset="0"/>
              </a:rPr>
              <a:t>：快速增长，活跃度显著高于   </a:t>
            </a:r>
            <a:endParaRPr lang="en-US" altLang="zh-CN" dirty="0">
              <a:latin typeface="Caveat Brush" pitchFamily="2" charset="0"/>
            </a:endParaRPr>
          </a:p>
          <a:p>
            <a:pPr latinLnBrk="1"/>
            <a:r>
              <a:rPr lang="zh-CN" altLang="en-US" dirty="0">
                <a:latin typeface="Caveat Brush" pitchFamily="2" charset="0"/>
              </a:rPr>
              <a:t>其他项目</a:t>
            </a:r>
            <a:endParaRPr lang="en-US" altLang="zh-CN" dirty="0">
              <a:latin typeface="Caveat Brush" pitchFamily="2" charset="0"/>
            </a:endParaRPr>
          </a:p>
          <a:p>
            <a:pPr latinLnBrk="1"/>
            <a:endParaRPr lang="zh-CN" altLang="en-US" dirty="0">
              <a:latin typeface="Caveat Brush" pitchFamily="2" charset="0"/>
            </a:endParaRPr>
          </a:p>
          <a:p>
            <a:pPr latinLnBrk="1"/>
            <a:r>
              <a:rPr lang="en-US" altLang="zh-CN" dirty="0">
                <a:latin typeface="Caveat Brush" pitchFamily="2" charset="0"/>
              </a:rPr>
              <a:t>React/ Vue.js</a:t>
            </a:r>
            <a:r>
              <a:rPr lang="zh-CN" altLang="en-US" dirty="0">
                <a:latin typeface="Caveat Brush" pitchFamily="2" charset="0"/>
              </a:rPr>
              <a:t>：趋势相近</a:t>
            </a:r>
            <a:endParaRPr lang="en-US" altLang="zh-CN" dirty="0">
              <a:latin typeface="Caveat Brush" pitchFamily="2" charset="0"/>
            </a:endParaRPr>
          </a:p>
          <a:p>
            <a:pPr latinLnBrk="1"/>
            <a:endParaRPr lang="zh-CN" altLang="en-US" dirty="0">
              <a:latin typeface="Caveat Brush" pitchFamily="2" charset="0"/>
            </a:endParaRPr>
          </a:p>
          <a:p>
            <a:pPr latinLnBrk="1"/>
            <a:r>
              <a:rPr lang="en-US" altLang="zh-CN" dirty="0">
                <a:latin typeface="Caveat Brush" pitchFamily="2" charset="0"/>
              </a:rPr>
              <a:t>Linux</a:t>
            </a:r>
            <a:r>
              <a:rPr lang="zh-CN" altLang="en-US" dirty="0">
                <a:latin typeface="Caveat Brush" pitchFamily="2" charset="0"/>
              </a:rPr>
              <a:t>：活跃度相对稳定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8634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D86D2C51-48B7-9B5C-6079-50A2ABA34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6AB76BD5-861F-E895-B94C-7F2343C85E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4" y="1310599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latinLnBrk="1">
              <a:buNone/>
            </a:pPr>
            <a:r>
              <a:rPr lang="en-US" altLang="zh-CN" sz="2000" dirty="0"/>
              <a:t> </a:t>
            </a:r>
            <a:endParaRPr lang="zh-CN" altLang="en-US" sz="2000" dirty="0"/>
          </a:p>
          <a:p>
            <a:pPr marL="152400" indent="0" latinLnBrk="1">
              <a:buNone/>
            </a:pPr>
            <a:endParaRPr lang="zh-CN" altLang="en-US" sz="2000" dirty="0"/>
          </a:p>
          <a:p>
            <a:pPr marL="152400" indent="0">
              <a:buNone/>
            </a:pPr>
            <a:endParaRPr lang="zh-CN" alt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996D175C-8AF5-BF5B-C5E2-F9C812D42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zh-CN" altLang="en-US" sz="2000" b="1" dirty="0"/>
              <a:t> 风险矩阵散点图</a:t>
            </a:r>
            <a:endParaRPr lang="en-US" sz="20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C88093-8F60-1390-1CC5-D7A8661C93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9508" y="1122455"/>
            <a:ext cx="3452947" cy="358873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08A8510-124F-5E3A-A28D-474A9619EFA2}"/>
              </a:ext>
            </a:extLst>
          </p:cNvPr>
          <p:cNvSpPr txBox="1"/>
          <p:nvPr/>
        </p:nvSpPr>
        <p:spPr>
          <a:xfrm>
            <a:off x="4302000" y="1713048"/>
            <a:ext cx="346683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zh-CN" dirty="0">
                <a:latin typeface="Caveat Brush" pitchFamily="2" charset="0"/>
              </a:rPr>
              <a:t>X</a:t>
            </a:r>
            <a:r>
              <a:rPr lang="zh-CN" altLang="en-US" dirty="0">
                <a:latin typeface="Caveat Brush" pitchFamily="2" charset="0"/>
              </a:rPr>
              <a:t>轴：</a:t>
            </a:r>
            <a:r>
              <a:rPr lang="en-US" altLang="zh-CN" dirty="0" err="1">
                <a:latin typeface="Caveat Brush" pitchFamily="2" charset="0"/>
              </a:rPr>
              <a:t>bus_factor</a:t>
            </a:r>
            <a:r>
              <a:rPr lang="zh-CN" altLang="en-US" dirty="0">
                <a:latin typeface="Caveat Brush" pitchFamily="2" charset="0"/>
              </a:rPr>
              <a:t>（风险）</a:t>
            </a:r>
          </a:p>
          <a:p>
            <a:pPr latinLnBrk="1"/>
            <a:r>
              <a:rPr lang="en-US" altLang="zh-CN" dirty="0">
                <a:latin typeface="Caveat Brush" pitchFamily="2" charset="0"/>
              </a:rPr>
              <a:t>Y</a:t>
            </a:r>
            <a:r>
              <a:rPr lang="zh-CN" altLang="en-US" dirty="0">
                <a:latin typeface="Caveat Brush" pitchFamily="2" charset="0"/>
              </a:rPr>
              <a:t>轴：</a:t>
            </a:r>
            <a:r>
              <a:rPr lang="en-US" altLang="zh-CN" dirty="0">
                <a:latin typeface="Caveat Brush" pitchFamily="2" charset="0"/>
              </a:rPr>
              <a:t>activity</a:t>
            </a:r>
            <a:r>
              <a:rPr lang="zh-CN" altLang="en-US" dirty="0">
                <a:latin typeface="Caveat Brush" pitchFamily="2" charset="0"/>
              </a:rPr>
              <a:t>（活跃度）</a:t>
            </a:r>
            <a:endParaRPr lang="en-US" altLang="zh-CN" dirty="0">
              <a:latin typeface="Caveat Brush" pitchFamily="2" charset="0"/>
            </a:endParaRPr>
          </a:p>
          <a:p>
            <a:pPr latinLnBrk="1"/>
            <a:r>
              <a:rPr lang="en-US" altLang="zh-CN" dirty="0">
                <a:latin typeface="Caveat Brush" pitchFamily="2" charset="0"/>
              </a:rPr>
              <a:t>Linux</a:t>
            </a:r>
            <a:r>
              <a:rPr lang="zh-CN" altLang="zh-CN" dirty="0">
                <a:latin typeface="Caveat Brush" pitchFamily="2" charset="0"/>
              </a:rPr>
              <a:t>内核处于中风险区域，而其他项目均位于</a:t>
            </a:r>
            <a:r>
              <a:rPr lang="zh-CN" altLang="en-US" dirty="0">
                <a:latin typeface="Caveat Brush" pitchFamily="2" charset="0"/>
              </a:rPr>
              <a:t>高</a:t>
            </a:r>
            <a:r>
              <a:rPr lang="zh-CN" altLang="zh-CN" dirty="0">
                <a:latin typeface="Caveat Brush" pitchFamily="2" charset="0"/>
              </a:rPr>
              <a:t>风险区，直观验证了风险评估模型的有效性</a:t>
            </a:r>
          </a:p>
          <a:p>
            <a:pPr latinLnBrk="1"/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9795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E3A36988-DCBA-2C56-023C-A816515E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5EF60FCB-A870-04F5-A631-F23AE20359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4" y="1310599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latinLnBrk="1">
              <a:buNone/>
            </a:pPr>
            <a:r>
              <a:rPr lang="en-US" altLang="zh-CN" sz="2000" dirty="0"/>
              <a:t> </a:t>
            </a:r>
            <a:endParaRPr lang="zh-CN" altLang="en-US" sz="2000" dirty="0"/>
          </a:p>
          <a:p>
            <a:pPr marL="152400" indent="0" latinLnBrk="1">
              <a:buNone/>
            </a:pPr>
            <a:endParaRPr lang="zh-CN" altLang="en-US" sz="2000" dirty="0"/>
          </a:p>
          <a:p>
            <a:pPr marL="152400" indent="0">
              <a:buNone/>
            </a:pPr>
            <a:endParaRPr lang="zh-CN" alt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331A64D8-B4B1-F479-170C-87AC4A0035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zh-CN" altLang="en-US" sz="2000" b="1" dirty="0"/>
              <a:t>误差分布直方图</a:t>
            </a:r>
            <a:endParaRPr lang="en-US" sz="20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24BEE0-C606-69C7-5603-6E02B1E04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7443" y="1260547"/>
            <a:ext cx="3317077" cy="33125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79010B8-22E1-FD18-EFF7-3F345A48A2FA}"/>
              </a:ext>
            </a:extLst>
          </p:cNvPr>
          <p:cNvSpPr txBox="1"/>
          <p:nvPr/>
        </p:nvSpPr>
        <p:spPr>
          <a:xfrm>
            <a:off x="4302000" y="1713048"/>
            <a:ext cx="34668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zh-CN" altLang="en-US" dirty="0">
                <a:latin typeface="Caveat Brush" pitchFamily="2" charset="0"/>
              </a:rPr>
              <a:t>近似正态分布</a:t>
            </a:r>
            <a:endParaRPr lang="en-US" altLang="zh-CN" dirty="0">
              <a:latin typeface="Caveat Brush" pitchFamily="2" charset="0"/>
            </a:endParaRPr>
          </a:p>
          <a:p>
            <a:pPr latinLnBrk="1"/>
            <a:r>
              <a:rPr lang="zh-CN" altLang="en-US" dirty="0">
                <a:latin typeface="Caveat Brush" pitchFamily="2" charset="0"/>
              </a:rPr>
              <a:t>集中在零误差附近</a:t>
            </a:r>
            <a:endParaRPr lang="en-US" altLang="zh-CN" dirty="0">
              <a:latin typeface="Caveat Brush" pitchFamily="2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08152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093A7BBC-D011-AE99-C7AE-6571A1EF1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0D5BE670-2D79-A3A0-7F3D-EC29C102F9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4" y="1310599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latinLnBrk="1">
              <a:buNone/>
            </a:pPr>
            <a:r>
              <a:rPr lang="en-US" altLang="zh-CN" sz="2000" dirty="0"/>
              <a:t> </a:t>
            </a:r>
            <a:endParaRPr lang="zh-CN" altLang="en-US" sz="2000" dirty="0"/>
          </a:p>
          <a:p>
            <a:pPr marL="152400" indent="0" latinLnBrk="1">
              <a:buNone/>
            </a:pPr>
            <a:endParaRPr lang="zh-CN" altLang="en-US" sz="2000" dirty="0"/>
          </a:p>
          <a:p>
            <a:pPr marL="152400" indent="0">
              <a:buNone/>
            </a:pPr>
            <a:endParaRPr lang="zh-CN" alt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9A60980F-8390-6BB0-B556-6B4AF2F807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zh-CN" altLang="en-US" sz="2000" b="1" dirty="0"/>
              <a:t>预测示例时序图</a:t>
            </a:r>
            <a:endParaRPr lang="en-US" sz="20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892B1F-9D35-0E42-8560-1715A199A7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4947" y="1260546"/>
            <a:ext cx="3222358" cy="362813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2598024-0450-88C7-DD97-1EED5E794812}"/>
              </a:ext>
            </a:extLst>
          </p:cNvPr>
          <p:cNvSpPr txBox="1"/>
          <p:nvPr/>
        </p:nvSpPr>
        <p:spPr>
          <a:xfrm>
            <a:off x="4302000" y="1713048"/>
            <a:ext cx="34668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zh-CN" altLang="en-US" dirty="0">
                <a:latin typeface="Caveat Brush" pitchFamily="2" charset="0"/>
              </a:rPr>
              <a:t>蓝色：历史活跃度</a:t>
            </a:r>
          </a:p>
          <a:p>
            <a:pPr latinLnBrk="1"/>
            <a:r>
              <a:rPr lang="zh-CN" altLang="en-US" dirty="0">
                <a:latin typeface="Caveat Brush" pitchFamily="2" charset="0"/>
              </a:rPr>
              <a:t>红星：模型预测值</a:t>
            </a:r>
          </a:p>
          <a:p>
            <a:pPr latinLnBrk="1"/>
            <a:r>
              <a:rPr lang="zh-CN" altLang="en-US" dirty="0">
                <a:latin typeface="Caveat Brush" pitchFamily="2" charset="0"/>
              </a:rPr>
              <a:t>展示从历史到未来的完整链路</a:t>
            </a:r>
          </a:p>
          <a:p>
            <a:pPr latinLnBrk="1"/>
            <a:endParaRPr lang="en-US" altLang="zh-CN" dirty="0">
              <a:latin typeface="Caveat Brush" pitchFamily="2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6175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F00CB3F1-98E7-A30D-BEF1-560A22DF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2">
            <a:extLst>
              <a:ext uri="{FF2B5EF4-FFF2-40B4-BE49-F238E27FC236}">
                <a16:creationId xmlns:a16="http://schemas.microsoft.com/office/drawing/2014/main" id="{89AA5CA7-9094-0D8B-80E5-E5927CB79E1D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800000">
            <a:off x="773645" y="1461100"/>
            <a:ext cx="1009575" cy="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>
            <a:extLst>
              <a:ext uri="{FF2B5EF4-FFF2-40B4-BE49-F238E27FC236}">
                <a16:creationId xmlns:a16="http://schemas.microsoft.com/office/drawing/2014/main" id="{256E6A6F-9C25-F9EA-53B5-4F374E13923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90000" y="2284906"/>
            <a:ext cx="7164000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/>
              <a:t>应用落地</a:t>
            </a:r>
            <a:endParaRPr lang="en-US" b="1" dirty="0"/>
          </a:p>
        </p:txBody>
      </p:sp>
      <p:sp>
        <p:nvSpPr>
          <p:cNvPr id="307" name="Google Shape;307;p32">
            <a:extLst>
              <a:ext uri="{FF2B5EF4-FFF2-40B4-BE49-F238E27FC236}">
                <a16:creationId xmlns:a16="http://schemas.microsoft.com/office/drawing/2014/main" id="{1034BE8F-E17B-7AA0-84A5-8219717346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000" y="1792672"/>
            <a:ext cx="1041900" cy="5388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03</a:t>
            </a:r>
          </a:p>
        </p:txBody>
      </p:sp>
      <p:sp>
        <p:nvSpPr>
          <p:cNvPr id="308" name="Google Shape;308;p32">
            <a:extLst>
              <a:ext uri="{FF2B5EF4-FFF2-40B4-BE49-F238E27FC236}">
                <a16:creationId xmlns:a16="http://schemas.microsoft.com/office/drawing/2014/main" id="{95BA08F0-4496-7157-D570-394CE7861CB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9975" y="3112219"/>
            <a:ext cx="7164000" cy="4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dk2"/>
                </a:solidFill>
              </a:rPr>
              <a:t> </a:t>
            </a:r>
            <a:endParaRPr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0211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9D060BB6-3462-D4BE-1113-80F8B78B3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4A3B0578-152E-FD83-68EF-E293EE1FB0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4" y="1310599"/>
            <a:ext cx="6880950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zh-CN" altLang="en-US" sz="2000" dirty="0">
                <a:latin typeface="Caveat Brush" pitchFamily="2" charset="0"/>
              </a:rPr>
              <a:t>传统</a:t>
            </a:r>
            <a:r>
              <a:rPr lang="en-US" altLang="zh-CN" sz="2000" dirty="0">
                <a:latin typeface="Caveat Brush" pitchFamily="2" charset="0"/>
              </a:rPr>
              <a:t>SQL</a:t>
            </a:r>
            <a:r>
              <a:rPr lang="zh-CN" altLang="en-US" sz="2000" dirty="0">
                <a:latin typeface="Caveat Brush" pitchFamily="2" charset="0"/>
              </a:rPr>
              <a:t>查询结果：</a:t>
            </a:r>
          </a:p>
          <a:p>
            <a:pPr marL="152400" indent="0">
              <a:buNone/>
            </a:pPr>
            <a:r>
              <a:rPr lang="en-US" altLang="zh-CN" sz="2000" dirty="0">
                <a:latin typeface="Caveat Brush" pitchFamily="2" charset="0"/>
              </a:rPr>
              <a:t>activity: 3581.6</a:t>
            </a:r>
            <a:br>
              <a:rPr lang="en-US" altLang="zh-CN" sz="2000" dirty="0">
                <a:latin typeface="Caveat Brush" pitchFamily="2" charset="0"/>
              </a:rPr>
            </a:br>
            <a:r>
              <a:rPr lang="en-US" altLang="zh-CN" sz="2000" dirty="0" err="1">
                <a:latin typeface="Caveat Brush" pitchFamily="2" charset="0"/>
              </a:rPr>
              <a:t>bus_factor</a:t>
            </a:r>
            <a:r>
              <a:rPr lang="en-US" altLang="zh-CN" sz="2000" dirty="0">
                <a:latin typeface="Caveat Brush" pitchFamily="2" charset="0"/>
              </a:rPr>
              <a:t>: 28.8</a:t>
            </a:r>
            <a:br>
              <a:rPr lang="en-US" altLang="zh-CN" sz="2000" dirty="0">
                <a:latin typeface="Caveat Brush" pitchFamily="2" charset="0"/>
              </a:rPr>
            </a:br>
            <a:r>
              <a:rPr lang="en-US" altLang="zh-CN" sz="2000" dirty="0" err="1">
                <a:latin typeface="Caveat Brush" pitchFamily="2" charset="0"/>
              </a:rPr>
              <a:t>new_contributors</a:t>
            </a:r>
            <a:r>
              <a:rPr lang="en-US" altLang="zh-CN" sz="2000" dirty="0">
                <a:latin typeface="Caveat Brush" pitchFamily="2" charset="0"/>
              </a:rPr>
              <a:t>: 27.2</a:t>
            </a:r>
          </a:p>
          <a:p>
            <a:pPr marL="152400" indent="0">
              <a:buNone/>
            </a:pPr>
            <a:endParaRPr lang="en-US" altLang="zh-CN" sz="2000" dirty="0">
              <a:latin typeface="Caveat Brush" pitchFamily="2" charset="0"/>
            </a:endParaRPr>
          </a:p>
          <a:p>
            <a:pPr marL="152400" indent="0">
              <a:buNone/>
            </a:pPr>
            <a:endParaRPr lang="zh-CN" altLang="en-US" sz="2000" dirty="0">
              <a:latin typeface="Caveat Brush" pitchFamily="2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aveat Brush" pitchFamily="2" charset="0"/>
              </a:rPr>
              <a:t> 增强器引擎：</a:t>
            </a:r>
            <a:endParaRPr lang="en-US" altLang="zh-CN" sz="2000" dirty="0">
              <a:latin typeface="Caveat Brush" pitchFamily="2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aveat Brush" pitchFamily="2" charset="0"/>
              </a:rPr>
              <a:t> 预测模型，风险评估，生成建议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E0D6C771-7F14-202A-980E-6F2A44F177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/>
              <a:t>3.1</a:t>
            </a:r>
            <a:r>
              <a:rPr lang="zh-CN" altLang="en-US" b="1" dirty="0"/>
              <a:t>增强器设计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62066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2A685CA7-327E-75F8-11AC-813F70F52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5338D134-651A-7524-78AE-F8685BA979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3" y="1310599"/>
            <a:ext cx="7644511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US" altLang="zh-CN" sz="2000" dirty="0">
                <a:latin typeface="Caveat Brush" pitchFamily="2" charset="0"/>
              </a:rPr>
              <a:t>【</a:t>
            </a:r>
            <a:r>
              <a:rPr lang="en-US" altLang="zh-CN" sz="2000" dirty="0" err="1">
                <a:latin typeface="Caveat Brush" pitchFamily="2" charset="0"/>
              </a:rPr>
              <a:t>linux</a:t>
            </a:r>
            <a:r>
              <a:rPr lang="zh-CN" altLang="en-US" sz="2000" dirty="0">
                <a:latin typeface="Caveat Brush" pitchFamily="2" charset="0"/>
              </a:rPr>
              <a:t>风险估计</a:t>
            </a:r>
            <a:r>
              <a:rPr lang="en-US" altLang="zh-CN" sz="2000" dirty="0">
                <a:latin typeface="Caveat Brush" pitchFamily="2" charset="0"/>
              </a:rPr>
              <a:t>】</a:t>
            </a:r>
          </a:p>
          <a:p>
            <a:pPr marL="152400" indent="0" latinLnBrk="1">
              <a:buNone/>
            </a:pPr>
            <a:r>
              <a:rPr lang="en-US" altLang="zh-CN" sz="1800" dirty="0" err="1">
                <a:latin typeface="Caveat Brush" pitchFamily="2" charset="0"/>
              </a:rPr>
              <a:t>SQLBot</a:t>
            </a:r>
            <a:r>
              <a:rPr lang="zh-CN" altLang="en-US" sz="1800" dirty="0">
                <a:latin typeface="Caveat Brush" pitchFamily="2" charset="0"/>
              </a:rPr>
              <a:t>原始输出：</a:t>
            </a:r>
          </a:p>
          <a:p>
            <a:pPr marL="152400" indent="0" latinLnBrk="1">
              <a:buNone/>
            </a:pPr>
            <a:r>
              <a:rPr lang="en-US" altLang="zh-CN" sz="1800" dirty="0" err="1">
                <a:latin typeface="Caveat Brush" pitchFamily="2" charset="0"/>
              </a:rPr>
              <a:t>bus_factor</a:t>
            </a:r>
            <a:r>
              <a:rPr lang="en-US" altLang="zh-CN" sz="1800" dirty="0">
                <a:latin typeface="Caveat Brush" pitchFamily="2" charset="0"/>
              </a:rPr>
              <a:t>: 28.8</a:t>
            </a:r>
          </a:p>
          <a:p>
            <a:pPr marL="152400" indent="0">
              <a:buNone/>
            </a:pPr>
            <a:r>
              <a:rPr lang="zh-CN" altLang="en-US" sz="1800" dirty="0">
                <a:latin typeface="Caveat Brush" pitchFamily="2" charset="0"/>
              </a:rPr>
              <a:t>我的模型增强分析：</a:t>
            </a:r>
            <a:br>
              <a:rPr lang="en-US" altLang="zh-CN" sz="1800" dirty="0">
                <a:latin typeface="Caveat Brush" pitchFamily="2" charset="0"/>
              </a:rPr>
            </a:br>
            <a:r>
              <a:rPr lang="en-US" altLang="zh-CN" sz="1800" dirty="0" err="1">
                <a:latin typeface="Caveat Brush" pitchFamily="2" charset="0"/>
              </a:rPr>
              <a:t>torvalds</a:t>
            </a:r>
            <a:r>
              <a:rPr lang="en-US" altLang="zh-CN" sz="1800" dirty="0">
                <a:latin typeface="Caveat Brush" pitchFamily="2" charset="0"/>
              </a:rPr>
              <a:t>/</a:t>
            </a:r>
            <a:r>
              <a:rPr lang="en-US" altLang="zh-CN" sz="1800" dirty="0" err="1">
                <a:latin typeface="Caveat Brush" pitchFamily="2" charset="0"/>
              </a:rPr>
              <a:t>linux</a:t>
            </a:r>
            <a:r>
              <a:rPr lang="en-US" altLang="zh-CN" sz="1800" dirty="0">
                <a:latin typeface="Caveat Brush" pitchFamily="2" charset="0"/>
              </a:rPr>
              <a:t>:</a:t>
            </a:r>
          </a:p>
          <a:p>
            <a:pPr marL="152400" indent="0">
              <a:buNone/>
            </a:pPr>
            <a:r>
              <a:rPr lang="en-US" altLang="zh-CN" sz="1800" dirty="0">
                <a:latin typeface="Caveat Brush" pitchFamily="2" charset="0"/>
              </a:rPr>
              <a:t> </a:t>
            </a:r>
            <a:r>
              <a:rPr lang="en-US" altLang="zh-CN" sz="1800" dirty="0" err="1">
                <a:latin typeface="Caveat Brush" pitchFamily="2" charset="0"/>
              </a:rPr>
              <a:t>bus_factor</a:t>
            </a:r>
            <a:r>
              <a:rPr lang="en-US" altLang="zh-CN" sz="1800" dirty="0">
                <a:latin typeface="Caveat Brush" pitchFamily="2" charset="0"/>
              </a:rPr>
              <a:t>: 28.8</a:t>
            </a:r>
          </a:p>
          <a:p>
            <a:pPr marL="152400" indent="0">
              <a:buNone/>
            </a:pPr>
            <a:r>
              <a:rPr lang="zh-CN" altLang="en-US" sz="1800" dirty="0">
                <a:latin typeface="Caveat Brush" pitchFamily="2" charset="0"/>
              </a:rPr>
              <a:t>风险评估</a:t>
            </a:r>
            <a:r>
              <a:rPr lang="en-US" altLang="zh-CN" sz="1800" dirty="0">
                <a:latin typeface="Caveat Brush" pitchFamily="2" charset="0"/>
              </a:rPr>
              <a:t>: </a:t>
            </a:r>
            <a:r>
              <a:rPr lang="zh-CN" altLang="en-US" sz="1800" dirty="0">
                <a:latin typeface="Caveat Brush" pitchFamily="2" charset="0"/>
              </a:rPr>
              <a:t>🟡 中风险：建议改善贡献者多样性（基于我的三级风险模型，阈值：</a:t>
            </a:r>
            <a:r>
              <a:rPr lang="en-US" altLang="zh-CN" sz="1800" dirty="0">
                <a:latin typeface="Caveat Brush" pitchFamily="2" charset="0"/>
              </a:rPr>
              <a:t>10≤bus_factor&lt;50</a:t>
            </a:r>
            <a:r>
              <a:rPr lang="zh-CN" altLang="en-US" sz="1800" dirty="0">
                <a:latin typeface="Caveat Brush" pitchFamily="2" charset="0"/>
              </a:rPr>
              <a:t>）</a:t>
            </a:r>
          </a:p>
          <a:p>
            <a:pPr marL="152400" indent="0">
              <a:buNone/>
            </a:pPr>
            <a:r>
              <a:rPr lang="zh-CN" altLang="en-US" sz="1800" dirty="0">
                <a:latin typeface="Caveat Brush" pitchFamily="2" charset="0"/>
              </a:rPr>
              <a:t>建议措施</a:t>
            </a:r>
            <a:r>
              <a:rPr lang="en-US" altLang="zh-CN" sz="1800" dirty="0">
                <a:latin typeface="Caveat Brush" pitchFamily="2" charset="0"/>
              </a:rPr>
              <a:t>: </a:t>
            </a:r>
            <a:r>
              <a:rPr lang="zh-CN" altLang="en-US" sz="1800" dirty="0">
                <a:latin typeface="Caveat Brush" pitchFamily="2" charset="0"/>
              </a:rPr>
              <a:t>重要：建立</a:t>
            </a:r>
            <a:r>
              <a:rPr lang="en-US" altLang="zh-CN" sz="1800" dirty="0">
                <a:latin typeface="Caveat Brush" pitchFamily="2" charset="0"/>
              </a:rPr>
              <a:t>mentor</a:t>
            </a:r>
            <a:r>
              <a:rPr lang="zh-CN" altLang="en-US" sz="1800" dirty="0">
                <a:latin typeface="Caveat Brush" pitchFamily="2" charset="0"/>
              </a:rPr>
              <a:t>机制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38A0C8E7-5755-2FAB-26E0-10FFF67C5E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/>
              <a:t>3.2</a:t>
            </a:r>
            <a:r>
              <a:rPr lang="zh-CN" altLang="en-US" b="1" dirty="0"/>
              <a:t>对比示例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20971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68B11D00-49F0-6B3F-114D-F44485978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29235FE1-B525-9630-1328-1A28877817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3" y="1310599"/>
            <a:ext cx="7644511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zh-CN" altLang="en-US" sz="2000" dirty="0">
                <a:latin typeface="Caveat Brush" pitchFamily="2" charset="0"/>
              </a:rPr>
              <a:t>四大查询类型增强分析，不再是一个数据，而是根据数据衍生出建议，决策依据，从静态数据到动态洞察</a:t>
            </a:r>
            <a:endParaRPr lang="zh-CN" altLang="en-US" sz="1800" dirty="0">
              <a:latin typeface="Caveat Brush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26CC57EB-F1C1-24A3-27ED-4655B8A72B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/>
              <a:t>3.3</a:t>
            </a:r>
            <a:r>
              <a:rPr lang="zh-CN" altLang="en-US" b="1" dirty="0"/>
              <a:t>增强演示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26335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0225F98A-5F11-35A5-B2D1-20F459A6F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32">
            <a:extLst>
              <a:ext uri="{FF2B5EF4-FFF2-40B4-BE49-F238E27FC236}">
                <a16:creationId xmlns:a16="http://schemas.microsoft.com/office/drawing/2014/main" id="{76226EDB-78CD-1F8F-1E1E-13CCDB7316EF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 rot="10800000">
            <a:off x="773645" y="1461100"/>
            <a:ext cx="1009575" cy="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>
            <a:extLst>
              <a:ext uri="{FF2B5EF4-FFF2-40B4-BE49-F238E27FC236}">
                <a16:creationId xmlns:a16="http://schemas.microsoft.com/office/drawing/2014/main" id="{1590CC20-C374-D430-0773-D741152A4AF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990000" y="2284906"/>
            <a:ext cx="7164000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/>
              <a:t>洞察总结</a:t>
            </a:r>
            <a:endParaRPr lang="en-US" b="1" dirty="0"/>
          </a:p>
        </p:txBody>
      </p:sp>
      <p:sp>
        <p:nvSpPr>
          <p:cNvPr id="307" name="Google Shape;307;p32">
            <a:extLst>
              <a:ext uri="{FF2B5EF4-FFF2-40B4-BE49-F238E27FC236}">
                <a16:creationId xmlns:a16="http://schemas.microsoft.com/office/drawing/2014/main" id="{696C8455-10D5-6931-484B-4F57A17ECE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000" y="1792672"/>
            <a:ext cx="1041900" cy="538800"/>
          </a:xfrm>
          <a:prstGeom prst="rect">
            <a:avLst/>
          </a:prstGeom>
        </p:spPr>
        <p:txBody>
          <a:bodyPr spcFirstLastPara="1" wrap="square" lIns="91425" tIns="0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04</a:t>
            </a:r>
          </a:p>
        </p:txBody>
      </p:sp>
      <p:sp>
        <p:nvSpPr>
          <p:cNvPr id="308" name="Google Shape;308;p32">
            <a:extLst>
              <a:ext uri="{FF2B5EF4-FFF2-40B4-BE49-F238E27FC236}">
                <a16:creationId xmlns:a16="http://schemas.microsoft.com/office/drawing/2014/main" id="{313163C8-30B3-FFE9-0F92-71F30EE088A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89975" y="3112219"/>
            <a:ext cx="7164000" cy="4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dk2"/>
                </a:solidFill>
              </a:rPr>
              <a:t> </a:t>
            </a:r>
            <a:endParaRPr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092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76A2CF03-8C1C-E33A-0C6F-248C20589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B980CA70-3E9F-1F68-D6D1-9EF775B4B4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3" y="1310599"/>
            <a:ext cx="7644511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latinLnBrk="1">
              <a:buNone/>
            </a:pPr>
            <a:r>
              <a:rPr lang="en-US" altLang="zh-CN" dirty="0">
                <a:latin typeface="Caveat Brush" pitchFamily="2" charset="0"/>
              </a:rPr>
              <a:t>1️⃣ Linux</a:t>
            </a:r>
            <a:r>
              <a:rPr lang="zh-CN" altLang="en-US" dirty="0">
                <a:latin typeface="Caveat Brush" pitchFamily="2" charset="0"/>
              </a:rPr>
              <a:t>的</a:t>
            </a:r>
            <a:r>
              <a:rPr lang="en-US" altLang="zh-CN" dirty="0">
                <a:latin typeface="Caveat Brush" pitchFamily="2" charset="0"/>
              </a:rPr>
              <a:t>"</a:t>
            </a:r>
            <a:r>
              <a:rPr lang="zh-CN" altLang="en-US" dirty="0">
                <a:latin typeface="Caveat Brush" pitchFamily="2" charset="0"/>
              </a:rPr>
              <a:t>双面性</a:t>
            </a:r>
            <a:r>
              <a:rPr lang="en-US" altLang="zh-CN" dirty="0">
                <a:latin typeface="Caveat Brush" pitchFamily="2" charset="0"/>
              </a:rPr>
              <a:t>"</a:t>
            </a:r>
          </a:p>
          <a:p>
            <a:pPr marL="152400" indent="0" latinLnBrk="1">
              <a:buNone/>
            </a:pPr>
            <a:r>
              <a:rPr lang="zh-CN" altLang="en-US" dirty="0">
                <a:latin typeface="Caveat Brush" pitchFamily="2" charset="0"/>
              </a:rPr>
              <a:t>传统认知：开源之王，最活跃</a:t>
            </a:r>
          </a:p>
          <a:p>
            <a:pPr marL="152400" indent="0" latinLnBrk="1">
              <a:buNone/>
            </a:pPr>
            <a:r>
              <a:rPr lang="zh-CN" altLang="en-US" dirty="0">
                <a:latin typeface="Caveat Brush" pitchFamily="2" charset="0"/>
              </a:rPr>
              <a:t>数据真相：四项目中活跃度最低</a:t>
            </a:r>
            <a:r>
              <a:rPr lang="en-US" altLang="zh-CN" dirty="0">
                <a:latin typeface="Caveat Brush" pitchFamily="2" charset="0"/>
              </a:rPr>
              <a:t>(100.08)</a:t>
            </a:r>
          </a:p>
          <a:p>
            <a:pPr marL="152400" indent="0" latinLnBrk="1">
              <a:buNone/>
            </a:pPr>
            <a:r>
              <a:rPr lang="en-US" altLang="zh-CN" dirty="0">
                <a:latin typeface="Caveat Brush" pitchFamily="2" charset="0"/>
              </a:rPr>
              <a:t>   	   </a:t>
            </a:r>
            <a:r>
              <a:rPr lang="zh-CN" altLang="en-US" dirty="0">
                <a:latin typeface="Caveat Brush" pitchFamily="2" charset="0"/>
              </a:rPr>
              <a:t>且存在中风险</a:t>
            </a:r>
            <a:r>
              <a:rPr lang="en-US" altLang="zh-CN" dirty="0">
                <a:latin typeface="Caveat Brush" pitchFamily="2" charset="0"/>
              </a:rPr>
              <a:t>(</a:t>
            </a:r>
            <a:r>
              <a:rPr lang="en-US" altLang="zh-CN" dirty="0" err="1">
                <a:latin typeface="Caveat Brush" pitchFamily="2" charset="0"/>
              </a:rPr>
              <a:t>bus_factor</a:t>
            </a:r>
            <a:r>
              <a:rPr lang="en-US" altLang="zh-CN" dirty="0">
                <a:latin typeface="Caveat Brush" pitchFamily="2" charset="0"/>
              </a:rPr>
              <a:t>=28.8)</a:t>
            </a:r>
          </a:p>
          <a:p>
            <a:pPr marL="152400" indent="0" latinLnBrk="1">
              <a:buNone/>
            </a:pPr>
            <a:r>
              <a:rPr lang="zh-CN" altLang="en-US" dirty="0">
                <a:latin typeface="Caveat Brush" pitchFamily="2" charset="0"/>
              </a:rPr>
              <a:t>我的发现：技术深度与社区活力难以兼得</a:t>
            </a:r>
          </a:p>
          <a:p>
            <a:pPr marL="152400" indent="0" latinLnBrk="1">
              <a:buNone/>
            </a:pPr>
            <a:endParaRPr lang="zh-CN" altLang="en-US" dirty="0">
              <a:latin typeface="Caveat Brush" pitchFamily="2" charset="0"/>
            </a:endParaRPr>
          </a:p>
          <a:p>
            <a:pPr marL="152400" indent="0" latinLnBrk="1">
              <a:buNone/>
            </a:pPr>
            <a:r>
              <a:rPr lang="en-US" altLang="zh-CN" dirty="0">
                <a:latin typeface="Caveat Brush" pitchFamily="2" charset="0"/>
              </a:rPr>
              <a:t>2️⃣ </a:t>
            </a:r>
            <a:r>
              <a:rPr lang="zh-CN" altLang="en-US" dirty="0">
                <a:latin typeface="Caveat Brush" pitchFamily="2" charset="0"/>
              </a:rPr>
              <a:t>活跃度的</a:t>
            </a:r>
            <a:r>
              <a:rPr lang="en-US" altLang="zh-CN" dirty="0">
                <a:latin typeface="Caveat Brush" pitchFamily="2" charset="0"/>
              </a:rPr>
              <a:t>"</a:t>
            </a:r>
            <a:r>
              <a:rPr lang="zh-CN" altLang="en-US" dirty="0">
                <a:latin typeface="Caveat Brush" pitchFamily="2" charset="0"/>
              </a:rPr>
              <a:t>隐藏代价</a:t>
            </a:r>
            <a:r>
              <a:rPr lang="en-US" altLang="zh-CN" dirty="0">
                <a:latin typeface="Caveat Brush" pitchFamily="2" charset="0"/>
              </a:rPr>
              <a:t>"</a:t>
            </a:r>
          </a:p>
          <a:p>
            <a:pPr marL="152400" indent="0" latinLnBrk="1">
              <a:buNone/>
            </a:pPr>
            <a:r>
              <a:rPr lang="zh-CN" altLang="en-US" dirty="0">
                <a:latin typeface="Caveat Brush" pitchFamily="2" charset="0"/>
              </a:rPr>
              <a:t>最高活跃度：</a:t>
            </a:r>
            <a:r>
              <a:rPr lang="en-US" altLang="zh-CN" dirty="0" err="1">
                <a:latin typeface="Caveat Brush" pitchFamily="2" charset="0"/>
              </a:rPr>
              <a:t>PyTorch</a:t>
            </a:r>
            <a:r>
              <a:rPr lang="en-US" altLang="zh-CN" dirty="0">
                <a:latin typeface="Caveat Brush" pitchFamily="2" charset="0"/>
              </a:rPr>
              <a:t> (3581.6)</a:t>
            </a:r>
          </a:p>
          <a:p>
            <a:pPr marL="152400" indent="0" latinLnBrk="1">
              <a:buNone/>
            </a:pPr>
            <a:r>
              <a:rPr lang="zh-CN" altLang="en-US" dirty="0">
                <a:latin typeface="Caveat Brush" pitchFamily="2" charset="0"/>
              </a:rPr>
              <a:t>模型预警：需关注技术债务管理</a:t>
            </a:r>
          </a:p>
          <a:p>
            <a:pPr marL="152400" indent="0" latinLnBrk="1">
              <a:buNone/>
            </a:pPr>
            <a:r>
              <a:rPr lang="zh-CN" altLang="en-US" dirty="0">
                <a:latin typeface="Caveat Brush" pitchFamily="2" charset="0"/>
              </a:rPr>
              <a:t>洞察：高活跃度可能带来质量风险</a:t>
            </a:r>
          </a:p>
          <a:p>
            <a:pPr marL="152400" indent="0" latinLnBrk="1">
              <a:buNone/>
            </a:pPr>
            <a:endParaRPr lang="zh-CN" altLang="en-US" dirty="0">
              <a:latin typeface="Caveat Brush" pitchFamily="2" charset="0"/>
            </a:endParaRPr>
          </a:p>
          <a:p>
            <a:pPr marL="152400" indent="0" latinLnBrk="1">
              <a:buNone/>
            </a:pPr>
            <a:r>
              <a:rPr lang="en-US" altLang="zh-CN" dirty="0">
                <a:latin typeface="Caveat Brush" pitchFamily="2" charset="0"/>
              </a:rPr>
              <a:t>3️⃣ </a:t>
            </a:r>
            <a:r>
              <a:rPr lang="zh-CN" altLang="en-US" dirty="0">
                <a:latin typeface="Caveat Brush" pitchFamily="2" charset="0"/>
              </a:rPr>
              <a:t>社区增长的</a:t>
            </a:r>
            <a:r>
              <a:rPr lang="en-US" altLang="zh-CN" dirty="0">
                <a:latin typeface="Caveat Brush" pitchFamily="2" charset="0"/>
              </a:rPr>
              <a:t>"</a:t>
            </a:r>
            <a:r>
              <a:rPr lang="zh-CN" altLang="en-US" dirty="0">
                <a:latin typeface="Caveat Brush" pitchFamily="2" charset="0"/>
              </a:rPr>
              <a:t>两极分化</a:t>
            </a:r>
            <a:r>
              <a:rPr lang="en-US" altLang="zh-CN" dirty="0">
                <a:latin typeface="Caveat Brush" pitchFamily="2" charset="0"/>
              </a:rPr>
              <a:t>"</a:t>
            </a:r>
          </a:p>
          <a:p>
            <a:pPr marL="152400" indent="0" latinLnBrk="1">
              <a:buNone/>
            </a:pPr>
            <a:r>
              <a:rPr lang="zh-CN" altLang="en-US" dirty="0">
                <a:latin typeface="Caveat Brush" pitchFamily="2" charset="0"/>
              </a:rPr>
              <a:t>健康增长：</a:t>
            </a:r>
            <a:r>
              <a:rPr lang="en-US" altLang="zh-CN" dirty="0" err="1">
                <a:latin typeface="Caveat Brush" pitchFamily="2" charset="0"/>
              </a:rPr>
              <a:t>PyTorch</a:t>
            </a:r>
            <a:r>
              <a:rPr lang="en-US" altLang="zh-CN" dirty="0">
                <a:latin typeface="Caveat Brush" pitchFamily="2" charset="0"/>
              </a:rPr>
              <a:t> (16.6</a:t>
            </a:r>
            <a:r>
              <a:rPr lang="zh-CN" altLang="en-US" dirty="0">
                <a:latin typeface="Caveat Brush" pitchFamily="2" charset="0"/>
              </a:rPr>
              <a:t>人</a:t>
            </a:r>
            <a:r>
              <a:rPr lang="en-US" altLang="zh-CN" dirty="0">
                <a:latin typeface="Caveat Brush" pitchFamily="2" charset="0"/>
              </a:rPr>
              <a:t>/</a:t>
            </a:r>
            <a:r>
              <a:rPr lang="zh-CN" altLang="en-US" dirty="0">
                <a:latin typeface="Caveat Brush" pitchFamily="2" charset="0"/>
              </a:rPr>
              <a:t>月</a:t>
            </a:r>
            <a:r>
              <a:rPr lang="en-US" altLang="zh-CN" dirty="0">
                <a:latin typeface="Caveat Brush" pitchFamily="2" charset="0"/>
              </a:rPr>
              <a:t>)</a:t>
            </a:r>
          </a:p>
          <a:p>
            <a:pPr marL="152400" indent="0" latinLnBrk="1">
              <a:buNone/>
            </a:pPr>
            <a:r>
              <a:rPr lang="zh-CN" altLang="en-US" dirty="0">
                <a:latin typeface="Caveat Brush" pitchFamily="2" charset="0"/>
              </a:rPr>
              <a:t>增长停滞：</a:t>
            </a:r>
            <a:r>
              <a:rPr lang="en-US" altLang="zh-CN" dirty="0">
                <a:latin typeface="Caveat Brush" pitchFamily="2" charset="0"/>
              </a:rPr>
              <a:t>Linux (1.0</a:t>
            </a:r>
            <a:r>
              <a:rPr lang="zh-CN" altLang="en-US" dirty="0">
                <a:latin typeface="Caveat Brush" pitchFamily="2" charset="0"/>
              </a:rPr>
              <a:t>人</a:t>
            </a:r>
            <a:r>
              <a:rPr lang="en-US" altLang="zh-CN" dirty="0">
                <a:latin typeface="Caveat Brush" pitchFamily="2" charset="0"/>
              </a:rPr>
              <a:t>/</a:t>
            </a:r>
            <a:r>
              <a:rPr lang="zh-CN" altLang="en-US" dirty="0">
                <a:latin typeface="Caveat Brush" pitchFamily="2" charset="0"/>
              </a:rPr>
              <a:t>月</a:t>
            </a:r>
            <a:r>
              <a:rPr lang="en-US" altLang="zh-CN" dirty="0">
                <a:latin typeface="Caveat Brush" pitchFamily="2" charset="0"/>
              </a:rPr>
              <a:t>)  </a:t>
            </a:r>
          </a:p>
          <a:p>
            <a:pPr marL="152400" indent="0" latinLnBrk="1">
              <a:buNone/>
            </a:pPr>
            <a:r>
              <a:rPr lang="zh-CN" altLang="en-US" dirty="0">
                <a:latin typeface="Caveat Brush" pitchFamily="2" charset="0"/>
              </a:rPr>
              <a:t>模型建议：</a:t>
            </a:r>
            <a:r>
              <a:rPr lang="en-US" altLang="zh-CN" dirty="0">
                <a:latin typeface="Caveat Brush" pitchFamily="2" charset="0"/>
              </a:rPr>
              <a:t>Linux</a:t>
            </a:r>
            <a:r>
              <a:rPr lang="zh-CN" altLang="en-US" dirty="0">
                <a:latin typeface="Caveat Brush" pitchFamily="2" charset="0"/>
              </a:rPr>
              <a:t>急需激活社区吸引力</a:t>
            </a:r>
            <a:endParaRPr lang="zh-CN" altLang="en-US" sz="1800" dirty="0">
              <a:latin typeface="Caveat Brush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>
              <a:latin typeface="Caveat Brush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EF06CE26-2884-2D6E-AD53-C6330A6008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4.1</a:t>
            </a:r>
            <a:r>
              <a:rPr lang="zh-CN" altLang="en-US" b="1" dirty="0"/>
              <a:t>数据真相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23694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1E4746D7-3F79-49AA-AE0B-A5D531841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2C7F728C-CB13-7ED7-D13A-510F624222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3" y="1310599"/>
            <a:ext cx="7644511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 latinLnBrk="1">
              <a:buNone/>
            </a:pPr>
            <a:r>
              <a:rPr lang="en-US" altLang="zh-CN" dirty="0">
                <a:latin typeface="Caveat Brush" pitchFamily="2" charset="0"/>
              </a:rPr>
              <a:t> </a:t>
            </a:r>
            <a:r>
              <a:rPr lang="zh-CN" altLang="en-US" dirty="0">
                <a:latin typeface="Caveat Brush" pitchFamily="2" charset="0"/>
              </a:rPr>
              <a:t>开源项目不可能三角：</a:t>
            </a:r>
            <a:endParaRPr lang="en-US" altLang="zh-CN" dirty="0">
              <a:latin typeface="Caveat Brush" pitchFamily="2" charset="0"/>
            </a:endParaRPr>
          </a:p>
          <a:p>
            <a:pPr marL="152400" indent="0" latinLnBrk="1">
              <a:buNone/>
            </a:pPr>
            <a:endParaRPr lang="en-US" altLang="zh-CN" sz="1800" dirty="0">
              <a:latin typeface="Caveat Brush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3E849999-4C03-158B-8BFC-6781328282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4.2</a:t>
            </a:r>
            <a:r>
              <a:rPr lang="zh-CN" altLang="en-US" b="1" dirty="0"/>
              <a:t>数据真相</a:t>
            </a:r>
            <a:endParaRPr lang="en-US" b="1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922D4B1-2F95-2362-AFF4-57C8B516832E}"/>
              </a:ext>
            </a:extLst>
          </p:cNvPr>
          <p:cNvSpPr/>
          <p:nvPr/>
        </p:nvSpPr>
        <p:spPr>
          <a:xfrm>
            <a:off x="3200400" y="1573967"/>
            <a:ext cx="1851285" cy="629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6AAA8A1-5D65-DC6F-6059-49BABCC8A299}"/>
              </a:ext>
            </a:extLst>
          </p:cNvPr>
          <p:cNvSpPr/>
          <p:nvPr/>
        </p:nvSpPr>
        <p:spPr>
          <a:xfrm>
            <a:off x="1349115" y="3375285"/>
            <a:ext cx="1851285" cy="629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latin typeface="Caveat Brush" pitchFamily="2" charset="0"/>
              </a:rPr>
              <a:t>技术深度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6F9D2BF-A35E-ACF9-6035-DB1B4BEB6918}"/>
              </a:ext>
            </a:extLst>
          </p:cNvPr>
          <p:cNvSpPr/>
          <p:nvPr/>
        </p:nvSpPr>
        <p:spPr>
          <a:xfrm>
            <a:off x="5196590" y="3375285"/>
            <a:ext cx="1851285" cy="6295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>
                <a:latin typeface="Caveat Brush" pitchFamily="2" charset="0"/>
              </a:rPr>
              <a:t>低风险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CD09B1A-06D9-352E-AFAA-2E5F374A995C}"/>
              </a:ext>
            </a:extLst>
          </p:cNvPr>
          <p:cNvCxnSpPr>
            <a:endCxn id="3" idx="0"/>
          </p:cNvCxnSpPr>
          <p:nvPr/>
        </p:nvCxnSpPr>
        <p:spPr>
          <a:xfrm flipH="1">
            <a:off x="2274758" y="2271010"/>
            <a:ext cx="1000593" cy="110427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0E7DC64-D679-CFD7-1D4E-3C65A0B896AE}"/>
              </a:ext>
            </a:extLst>
          </p:cNvPr>
          <p:cNvCxnSpPr>
            <a:endCxn id="4" idx="0"/>
          </p:cNvCxnSpPr>
          <p:nvPr/>
        </p:nvCxnSpPr>
        <p:spPr>
          <a:xfrm>
            <a:off x="4841823" y="2271010"/>
            <a:ext cx="1280410" cy="110427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16A375E-D03B-FB49-8FD3-378D5A69855F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200400" y="3690079"/>
            <a:ext cx="199619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A098D95-BDFA-CB2C-36FA-A49ED55808A0}"/>
              </a:ext>
            </a:extLst>
          </p:cNvPr>
          <p:cNvSpPr txBox="1"/>
          <p:nvPr/>
        </p:nvSpPr>
        <p:spPr>
          <a:xfrm>
            <a:off x="3547673" y="1704094"/>
            <a:ext cx="1648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+mn-ea"/>
                <a:ea typeface="+mn-ea"/>
              </a:rPr>
              <a:t>高活跃度</a:t>
            </a:r>
          </a:p>
        </p:txBody>
      </p:sp>
    </p:spTree>
    <p:extLst>
      <p:ext uri="{BB962C8B-B14F-4D97-AF65-F5344CB8AC3E}">
        <p14:creationId xmlns:p14="http://schemas.microsoft.com/office/powerpoint/2010/main" val="3684682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61BB2172-665F-BF74-75C5-C11513990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8E2E3880-EAD0-384F-3224-27FFA5A8B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3" y="1310599"/>
            <a:ext cx="7644511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>
              <a:buNone/>
            </a:pPr>
            <a:r>
              <a:rPr lang="zh-CN" altLang="zh-CN" b="1" dirty="0"/>
              <a:t>数据源单一</a:t>
            </a:r>
            <a:r>
              <a:rPr lang="zh-CN" altLang="zh-CN" dirty="0"/>
              <a:t>：目前仅依赖</a:t>
            </a:r>
            <a:r>
              <a:rPr lang="en-US" altLang="zh-CN" dirty="0" err="1"/>
              <a:t>OpenDigger</a:t>
            </a:r>
            <a:r>
              <a:rPr lang="zh-CN" altLang="zh-CN" dirty="0"/>
              <a:t>，未来可整合</a:t>
            </a:r>
            <a:r>
              <a:rPr lang="en-US" altLang="zh-CN" dirty="0"/>
              <a:t>GitHub API</a:t>
            </a:r>
            <a:r>
              <a:rPr lang="zh-CN" altLang="zh-CN" dirty="0"/>
              <a:t>、社区论坛等多元数据</a:t>
            </a:r>
          </a:p>
          <a:p>
            <a:pPr marL="152400" lvl="0" indent="0">
              <a:buNone/>
            </a:pPr>
            <a:r>
              <a:rPr lang="zh-CN" altLang="zh-CN" b="1" dirty="0"/>
              <a:t>模型简化</a:t>
            </a:r>
            <a:r>
              <a:rPr lang="zh-CN" altLang="zh-CN" dirty="0"/>
              <a:t>：线性回归虽有效但无法捕捉复杂非线性关系</a:t>
            </a:r>
          </a:p>
          <a:p>
            <a:pPr marL="152400" lvl="0" indent="0">
              <a:buNone/>
            </a:pPr>
            <a:r>
              <a:rPr lang="zh-CN" altLang="zh-CN" b="1" dirty="0"/>
              <a:t>项目覆盖有限</a:t>
            </a:r>
            <a:r>
              <a:rPr lang="zh-CN" altLang="zh-CN" dirty="0"/>
              <a:t>：仅分析四个代表性项目，需扩展至更多类型</a:t>
            </a:r>
          </a:p>
          <a:p>
            <a:pPr marL="152400" lvl="0" indent="0">
              <a:buNone/>
            </a:pPr>
            <a:r>
              <a:rPr lang="zh-CN" altLang="zh-CN" b="1" dirty="0"/>
              <a:t>实时性不足</a:t>
            </a:r>
            <a:r>
              <a:rPr lang="zh-CN" altLang="zh-CN" dirty="0"/>
              <a:t>：基于月度数据，对突发事件响应滞后</a:t>
            </a:r>
          </a:p>
          <a:p>
            <a:pPr marL="152400" indent="0" latinLnBrk="1">
              <a:buNone/>
            </a:pPr>
            <a:endParaRPr lang="en-US" altLang="zh-CN" sz="1800" dirty="0">
              <a:latin typeface="Caveat Brush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  <a:p>
            <a:pPr marL="152400" indent="0">
              <a:buNone/>
            </a:pPr>
            <a:r>
              <a:rPr lang="zh-CN" altLang="en-US" b="1" dirty="0"/>
              <a:t>选项目时</a:t>
            </a:r>
            <a:r>
              <a:rPr lang="zh-CN" altLang="en-US" dirty="0"/>
              <a:t>：不要只关注</a:t>
            </a:r>
            <a:r>
              <a:rPr lang="en-US" altLang="zh-CN" dirty="0"/>
              <a:t>star</a:t>
            </a:r>
            <a:r>
              <a:rPr lang="zh-CN" altLang="en-US" dirty="0"/>
              <a:t>数，看看</a:t>
            </a:r>
            <a:r>
              <a:rPr lang="en-US" altLang="zh-CN" dirty="0" err="1"/>
              <a:t>bus_factor</a:t>
            </a:r>
            <a:endParaRPr lang="zh-CN" altLang="en-US" dirty="0"/>
          </a:p>
          <a:p>
            <a:pPr marL="152400" indent="0">
              <a:buNone/>
            </a:pPr>
            <a:r>
              <a:rPr lang="zh-CN" altLang="en-US" b="1" dirty="0"/>
              <a:t>做决策时</a:t>
            </a:r>
            <a:r>
              <a:rPr lang="zh-CN" altLang="en-US" dirty="0"/>
              <a:t>：不要只看现在多火，用活跃度趋势图看看它是在上升还是下滑</a:t>
            </a:r>
          </a:p>
          <a:p>
            <a:pPr marL="152400" indent="0">
              <a:buNone/>
            </a:pPr>
            <a:r>
              <a:rPr lang="zh-CN" altLang="en-US" b="1" dirty="0"/>
              <a:t>维护社区时</a:t>
            </a:r>
            <a:r>
              <a:rPr lang="zh-CN" altLang="en-US" dirty="0"/>
              <a:t>：关注</a:t>
            </a:r>
            <a:r>
              <a:rPr lang="en-US" altLang="zh-CN" dirty="0" err="1"/>
              <a:t>new_contributors</a:t>
            </a:r>
            <a:r>
              <a:rPr lang="en-US" altLang="zh-CN" dirty="0"/>
              <a:t>——</a:t>
            </a:r>
            <a:r>
              <a:rPr lang="zh-CN" altLang="en-US" dirty="0"/>
              <a:t>社区的明天，藏在今天新人的体验里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220755E2-FD67-9778-4450-839B4C7509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4.3</a:t>
            </a:r>
            <a:r>
              <a:rPr lang="zh-CN" altLang="en-US" b="1" dirty="0"/>
              <a:t>局限与总结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575360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0AC88105-4654-ED1E-4F5F-BA9172A1A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>
            <a:extLst>
              <a:ext uri="{FF2B5EF4-FFF2-40B4-BE49-F238E27FC236}">
                <a16:creationId xmlns:a16="http://schemas.microsoft.com/office/drawing/2014/main" id="{597ADE6E-187D-E2A0-FE76-A3CC63CDC5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2563" y="1310599"/>
            <a:ext cx="7644511" cy="314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>
              <a:buNone/>
            </a:pPr>
            <a:r>
              <a:rPr lang="en-US" altLang="zh-CN" b="1" dirty="0"/>
              <a:t> </a:t>
            </a:r>
            <a:endParaRPr lang="zh-CN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800" dirty="0"/>
          </a:p>
        </p:txBody>
      </p:sp>
      <p:sp>
        <p:nvSpPr>
          <p:cNvPr id="317" name="Google Shape;317;p33">
            <a:extLst>
              <a:ext uri="{FF2B5EF4-FFF2-40B4-BE49-F238E27FC236}">
                <a16:creationId xmlns:a16="http://schemas.microsoft.com/office/drawing/2014/main" id="{07FBEFB6-98E2-93CA-343C-70044A3388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6039" y="2232639"/>
            <a:ext cx="7164000" cy="572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b="1" dirty="0"/>
              <a:t>谢谢大家！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249668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BmYWJkZDYwZmIzNDI1MjRmN2RjM2Y0ODhiNWQzYTYifQ=="/>
</p:tagLst>
</file>

<file path=ppt/theme/theme1.xml><?xml version="1.0" encoding="utf-8"?>
<a:theme xmlns:a="http://schemas.openxmlformats.org/drawingml/2006/main" name="Artist Portfolio Minitheme by Slidesgo">
  <a:themeElements>
    <a:clrScheme name="Simple Light">
      <a:dk1>
        <a:srgbClr val="3C3C3B"/>
      </a:dk1>
      <a:lt1>
        <a:srgbClr val="FFFFFF"/>
      </a:lt1>
      <a:dk2>
        <a:srgbClr val="595959"/>
      </a:dk2>
      <a:lt2>
        <a:srgbClr val="F6F6F6"/>
      </a:lt2>
      <a:accent1>
        <a:srgbClr val="ADBCA8"/>
      </a:accent1>
      <a:accent2>
        <a:srgbClr val="5F7E85"/>
      </a:accent2>
      <a:accent3>
        <a:srgbClr val="E6E9D7"/>
      </a:accent3>
      <a:accent4>
        <a:srgbClr val="B5D3D9"/>
      </a:accent4>
      <a:accent5>
        <a:srgbClr val="8397BA"/>
      </a:accent5>
      <a:accent6>
        <a:srgbClr val="D6DD76"/>
      </a:accent6>
      <a:hlink>
        <a:srgbClr val="3C3C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1057</Words>
  <Application>Microsoft Office PowerPoint</Application>
  <PresentationFormat>全屏显示(16:9)</PresentationFormat>
  <Paragraphs>184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Roboto</vt:lpstr>
      <vt:lpstr>Caveat Brush</vt:lpstr>
      <vt:lpstr>Arial</vt:lpstr>
      <vt:lpstr>Artist Portfolio Minitheme by Slidesgo</vt:lpstr>
      <vt:lpstr>开源项目活跃度预测与风险估计平台报告 ——基于OpenDigger与OpenSODA的开源社区治理应用创新     </vt:lpstr>
      <vt:lpstr> 目录</vt:lpstr>
      <vt:lpstr> 引言</vt:lpstr>
      <vt:lpstr>基础建构</vt:lpstr>
      <vt:lpstr>1.1项目背景</vt:lpstr>
      <vt:lpstr>1.2项目目标</vt:lpstr>
      <vt:lpstr>1.3总体流程</vt:lpstr>
      <vt:lpstr>1.4数据采集</vt:lpstr>
      <vt:lpstr> </vt:lpstr>
      <vt:lpstr>1.5模型选择</vt:lpstr>
      <vt:lpstr>分析构建</vt:lpstr>
      <vt:lpstr>2.1风险估计模型</vt:lpstr>
      <vt:lpstr>2.2图表展示</vt:lpstr>
      <vt:lpstr>预测验证散点图</vt:lpstr>
      <vt:lpstr>特征重要性条形图</vt:lpstr>
      <vt:lpstr>活跃度趋势折线图</vt:lpstr>
      <vt:lpstr> 风险矩阵散点图</vt:lpstr>
      <vt:lpstr>误差分布直方图</vt:lpstr>
      <vt:lpstr>预测示例时序图</vt:lpstr>
      <vt:lpstr>应用落地</vt:lpstr>
      <vt:lpstr>3.1增强器设计</vt:lpstr>
      <vt:lpstr>3.2对比示例</vt:lpstr>
      <vt:lpstr>3.3增强演示</vt:lpstr>
      <vt:lpstr>洞察总结</vt:lpstr>
      <vt:lpstr>4.1数据真相</vt:lpstr>
      <vt:lpstr>4.2数据真相</vt:lpstr>
      <vt:lpstr>4.3局限与总结</vt:lpstr>
      <vt:lpstr>谢谢大家！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Artist Portfolio Minitheme</dc:title>
  <dc:creator>yuan ma</dc:creator>
  <cp:lastModifiedBy>yuan ma</cp:lastModifiedBy>
  <cp:revision>5</cp:revision>
  <dcterms:created xsi:type="dcterms:W3CDTF">2024-08-09T10:05:00Z</dcterms:created>
  <dcterms:modified xsi:type="dcterms:W3CDTF">2026-01-13T12:01:26Z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3A36C84370F5416590212AE8763C4515_13</vt:lpwstr>
  </property>
  <property fmtid="{D5CDD505-2E9C-101B-9397-08002B2CF9AE}" pid="3" name="KSOProductBuildVer">
    <vt:lpwstr>2052-12.1.0.17147</vt:lpwstr>
  </property>
</Properties>
</file>